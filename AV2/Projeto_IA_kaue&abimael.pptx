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C6D84-1FFD-F239-437E-3B68A8E423C2}" v="63" dt="2026-05-18T15:21:26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FB941-7C7D-4AFE-809B-DDF5E2C3BA21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4E2D1-21F9-4653-9564-43915C7E4A2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286000" cy="2286000"/>
          </a:xfrm>
          <a:prstGeom prst="ellipse">
            <a:avLst/>
          </a:prstGeom>
          <a:solidFill>
            <a:srgbClr val="3A7BD5">
              <a:alpha val="30000"/>
            </a:srgbClr>
          </a:solidFill>
          <a:ln w="12700">
            <a:solidFill>
              <a:srgbClr val="3A7BD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280160" cy="1280160"/>
          </a:xfrm>
          <a:prstGeom prst="ellipse">
            <a:avLst/>
          </a:prstGeom>
          <a:solidFill>
            <a:srgbClr val="3A7BD5">
              <a:alpha val="40000"/>
            </a:srgbClr>
          </a:solidFill>
          <a:ln w="12700">
            <a:solidFill>
              <a:srgbClr val="3A7BD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1874520"/>
            <a:ext cx="493776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502920"/>
            <a:ext cx="59436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502920"/>
            <a:ext cx="594360" cy="59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INTELIGÊNCIA ARTIFICIAL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com KNN  |  Regressão Linear Supervisionada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solidFill>
            <a:srgbClr val="3A7BD5">
              <a:alpha val="20000"/>
            </a:srgbClr>
          </a:solidFill>
          <a:ln w="12700">
            <a:solidFill>
              <a:srgbClr val="3A7BD5">
                <a:alpha val="5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718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8872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solidFill>
            <a:srgbClr val="3A7BD5">
              <a:alpha val="20000"/>
            </a:srgbClr>
          </a:solidFill>
          <a:ln w="12700">
            <a:solidFill>
              <a:srgbClr val="3A7BD5">
                <a:alpha val="5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97180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486400" y="3218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Kauê Cruz Gomes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Abimael Gomes M. Filho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E8EDF8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24712"/>
            <a:ext cx="502920" cy="50292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com KNN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3624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pré-processamento, normalização, treinamento e avaliação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12264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12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0391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KNN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350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confusão, métricas e discussion dos resultados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35224"/>
            <a:ext cx="8412480" cy="84124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99816"/>
            <a:ext cx="502920" cy="502920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02666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Supervisionada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337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correlações, modelos Ridge e Lasso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22776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87368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0142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Regressão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3251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dos modelos com MSE, RMSE, MAE e R²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37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CLASSIFICAÇÃO COM KNN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60120" y="5212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Shoppers Intention Dataset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&amp; Dataset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" y="1572768"/>
            <a:ext cx="402336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Sobre</a:t>
            </a:r>
            <a:r>
              <a:rPr lang="en-US" sz="13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 o Dataset: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2029968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de usuários em e-commerce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Variável-alvo: Revenue (comprou/não comprou)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Variáveis: páginas visitadas, tempo, taxa de rejeição, valores de página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valores nulos; registros duplicados removidos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 desbalanceamento de classes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572768"/>
            <a:ext cx="4114800" cy="32004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Pipeline do </a:t>
            </a:r>
            <a:r>
              <a:rPr lang="en-US" sz="13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Projeto</a:t>
            </a:r>
            <a:r>
              <a:rPr lang="en-US" sz="13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00600" y="2048256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2048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166360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inicial (head, info, describe)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2432304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2432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6636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&amp; encoding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00600" y="2816352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663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treino/teste (80/20)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00600" y="3200400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6636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Normalização: Min-Max, Z-score, Log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00600" y="3584448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3584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66360" y="3602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KNN (k de 1 a 20)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00600" y="3968496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3968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66360" y="3986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&amp; Grid Search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4352544"/>
            <a:ext cx="274320" cy="2743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4352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66360" y="4370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 &amp; Classification Report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— Normalização &amp; Resultados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das técnicas de normalização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de Normalizações — Algoritmo KNN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915013"/>
              </p:ext>
            </p:extLst>
          </p:nvPr>
        </p:nvGraphicFramePr>
        <p:xfrm>
          <a:off x="365760" y="1508760"/>
          <a:ext cx="8412480" cy="1737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Acurácia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 base, porém sensível a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Melhora com escala padrão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A2B5F"/>
                          </a:solidFill>
                          <a:latin typeface="Calibri"/>
                          <a:ea typeface="Calibri"/>
                          <a:cs typeface="Calibri"/>
                        </a:rPr>
                        <a:t>Log 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B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resultado — reduz assimetria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337560"/>
            <a:ext cx="274320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Validação</a:t>
            </a:r>
            <a:r>
              <a:rPr lang="en-US" sz="12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 Cruzada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20" y="378561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cross_val_score com cv=5 aplicado para avaliação robusta e redução de dependência de divisão única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91840" y="3337560"/>
            <a:ext cx="274320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2900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Grid Search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29000" y="378561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identificou automaticamente k=18 como hiperparâmetro ótimo, consistente com análise visual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337560"/>
            <a:ext cx="2743200" cy="1554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550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Desbalanceamento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355080" y="378561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 85,1% classe 0 vs 14,9% classe 1 — impactou diretamente a detecção de compras reais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— Matriz de Confusão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KNN — Normalização Log (k = 18)</a:t>
            </a:r>
            <a:endParaRPr lang="en-US" sz="1200" dirty="0"/>
          </a:p>
        </p:txBody>
      </p:sp>
      <p:pic>
        <p:nvPicPr>
          <p:cNvPr id="6" name="Image 1" descr="/home/claude/matriz_confusa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51560"/>
            <a:ext cx="5486400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1051560"/>
            <a:ext cx="283464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80760" y="1088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89,39%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080760" y="1435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035040" y="1856232"/>
            <a:ext cx="283464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80760" y="18928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080760" y="2240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Verdadeiros Negativos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2660904"/>
            <a:ext cx="283464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80760" y="2697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080760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Verdadeiros Positivos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3465576"/>
            <a:ext cx="283464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80760" y="35021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080760" y="3849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4270248"/>
            <a:ext cx="2834640" cy="71323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80760" y="43068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080760" y="4654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— Classification Report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KNN — Normalização Log (k = 18)</a:t>
            </a:r>
            <a:endParaRPr lang="en-US" sz="1200" dirty="0"/>
          </a:p>
        </p:txBody>
      </p:sp>
      <p:pic>
        <p:nvPicPr>
          <p:cNvPr id="6" name="Image 1" descr="/home/claude/classification_report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6065" y="1105475"/>
            <a:ext cx="8261087" cy="3894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— Conclusões &amp; Próximos Passos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com Normalização Log — melhor desempenho geral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solidFill>
            <a:srgbClr val="E8F8F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0700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1887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satisfatórios — 89,39% de acurácia com KNN + Normalização Log (k=18)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7280" y="15544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de normalização influencia diretamente no desempenho: Log &gt; Z-score &gt; Min-Max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2148840"/>
            <a:ext cx="4114800" cy="2651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Desafios</a:t>
            </a:r>
            <a:r>
              <a:rPr lang="en-US" sz="13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Encontrados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8640" y="26060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das classes (85% vs 14,9%)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 (Comprou): Recall de apenas 50%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da classe positiva: 58%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categóricas exigiram encoding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2148840"/>
            <a:ext cx="4114800" cy="2651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0060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Próximos</a:t>
            </a:r>
            <a:r>
              <a:rPr lang="en-US" sz="13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 Passos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846320" y="26060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técnicas de balanceamento (SMOTE)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outros algoritmos (Random Forest, SVM)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automática de atributos relevantes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adicionais: AUC-ROC, F1-macro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faixa de k analisada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58992" y="-381719"/>
            <a:ext cx="2102688" cy="2167387"/>
          </a:xfrm>
          <a:prstGeom prst="ellipse">
            <a:avLst/>
          </a:prstGeom>
          <a:solidFill>
            <a:srgbClr val="3A7BD5">
              <a:alpha val="30000"/>
            </a:srgbClr>
          </a:solidFill>
          <a:ln w="12700">
            <a:solidFill>
              <a:srgbClr val="3A7BD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2240280"/>
            <a:ext cx="45720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822960"/>
            <a:ext cx="777240" cy="7772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22960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SUPERVISIONADA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Energy Prediction Dataset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  •  Ridge Regression  •  Lasso Regression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— Consumo Energético Residencial em Wh</a:t>
            </a:r>
            <a:endParaRPr lang="en-US" sz="1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9F6B23-E19E-7339-9249-F3ACAFC514D7}"/>
              </a:ext>
            </a:extLst>
          </p:cNvPr>
          <p:cNvSpPr txBox="1"/>
          <p:nvPr/>
        </p:nvSpPr>
        <p:spPr>
          <a:xfrm>
            <a:off x="428624" y="-357187"/>
            <a:ext cx="71437" cy="214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— Exploração &amp; Correlações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Pearson dos atributos com a variável-alvo (Appliances)</a:t>
            </a:r>
            <a:endParaRPr lang="en-US" sz="1200" dirty="0"/>
          </a:p>
        </p:txBody>
      </p:sp>
      <p:pic>
        <p:nvPicPr>
          <p:cNvPr id="6" name="Image 1" descr="/home/claude/correlacao_atributo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51560"/>
            <a:ext cx="5486400" cy="3886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43600" y="1051560"/>
            <a:ext cx="2926080" cy="3886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8076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Principais</a:t>
            </a:r>
            <a:r>
              <a:rPr lang="en-US" sz="13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 Insights: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035040" y="157276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44768" y="1609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lights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144768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correlação positiva (~0.20)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221284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44768" y="22494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T2 e T6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144768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correlação positiva (~0.12)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285292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44768" y="28895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Windspeed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44768" y="3127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positiva (~0.09)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35040" y="34930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44768" y="35295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RH_out</a:t>
            </a:r>
            <a:endParaRPr lang="en-US" sz="11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144768" y="3767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correlação negativa (~−0.15)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35040" y="413308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44768" y="41696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RH_8, RH_6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144768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negativa moderada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— Mapa de Correlação entre Atributos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 correlação de Pearson entre todos os atributos</a:t>
            </a:r>
            <a:endParaRPr lang="en-US" sz="1200" dirty="0"/>
          </a:p>
        </p:txBody>
      </p:sp>
      <p:pic>
        <p:nvPicPr>
          <p:cNvPr id="6" name="Image 1" descr="/home/claude/heatmap_correlaca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1051560"/>
            <a:ext cx="6583680" cy="3886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49440" y="1051560"/>
            <a:ext cx="1965960" cy="3886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059168" y="1143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059168" y="1508760"/>
            <a:ext cx="228600" cy="2286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33488" y="15361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forte positiva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059168" y="1828800"/>
            <a:ext cx="228600" cy="228600"/>
          </a:xfrm>
          <a:prstGeom prst="rect">
            <a:avLst/>
          </a:prstGeom>
          <a:solidFill>
            <a:srgbClr val="6B93C4"/>
          </a:solidFill>
          <a:ln w="12700">
            <a:solidFill>
              <a:srgbClr val="6B93C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33488" y="18562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forte negativa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059168" y="2148840"/>
            <a:ext cx="228600" cy="228600"/>
          </a:xfrm>
          <a:prstGeom prst="rect">
            <a:avLst/>
          </a:prstGeom>
          <a:solidFill>
            <a:srgbClr val="F5E6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33488" y="21762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fraca ou nula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995160" y="260604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Temperaturas T1-T9 altamente correlacionadas entre si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Umidades relativas (RH) formam grupo de correlação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T_out correlaciona com Press_mm_hg negativamente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Appliances tem correlações fracas com maioria dos atributos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— Reta de Regressão Linear Simples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simples: lights → Appliances (R² = 0,049)</a:t>
            </a:r>
            <a:endParaRPr lang="en-US" sz="1200" dirty="0"/>
          </a:p>
        </p:txBody>
      </p:sp>
      <p:pic>
        <p:nvPicPr>
          <p:cNvPr id="6" name="Image 1" descr="/home/claude/reta_regressa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51560"/>
            <a:ext cx="5394960" cy="3886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1051560"/>
            <a:ext cx="3017520" cy="3886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8932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Análise: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943600" y="157276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53328" y="1618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R² = 0,049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053328" y="1892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4,9% da variância de Appliances é explicada por lights isoladamente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43600" y="237744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53328" y="2423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Tendência</a:t>
            </a:r>
            <a:r>
              <a:rPr lang="en-US" sz="11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Positiva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053328" y="2697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correlação positiva fraca entre consumo de iluminação e eletrodomésticos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43600" y="318211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53328" y="32278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Alta </a:t>
            </a:r>
            <a:r>
              <a:rPr lang="en-US" sz="11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Dispersão</a:t>
            </a:r>
            <a:endParaRPr lang="en-US" sz="11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053328" y="3502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apresentam grande variabilidade — modelo multivariado é necessário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0" y="39867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53328" y="4032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Variável</a:t>
            </a:r>
            <a:r>
              <a:rPr lang="en-US" sz="1100" b="1" dirty="0">
                <a:solidFill>
                  <a:srgbClr val="1A2B5F"/>
                </a:solidFill>
                <a:latin typeface="Calibri"/>
                <a:ea typeface="Calibri"/>
                <a:cs typeface="Calibri"/>
              </a:rPr>
              <a:t> lights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053328" y="4306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atributo com maior correlação isolada com Appliances (≈0.20)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— Modelos Treinados &amp; Métricas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 • Ridge • Lasso — avaliação com MSE, RMSE, MAE e R²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dos Modelos de Regressão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2743200" cy="2377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6002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Regressão</a:t>
            </a: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Linear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5488" y="2084832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 sem regularização. Captura a relação linear pura entre atributos e consumo.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" y="3383280"/>
            <a:ext cx="2542032" cy="384048"/>
          </a:xfrm>
          <a:prstGeom prst="rect">
            <a:avLst/>
          </a:prstGeom>
          <a:solidFill>
            <a:srgbClr val="3A7BD5">
              <a:alpha val="20000"/>
            </a:srgbClr>
          </a:solidFill>
          <a:ln w="12700">
            <a:solidFill>
              <a:srgbClr val="3A7BD5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34107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• RMSE • MAE • R²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554480"/>
            <a:ext cx="2743200" cy="2377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554480"/>
            <a:ext cx="274320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6002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Ridge Regression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401568" y="2084832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 L2 — penaliza coeficientes grandes. Reduz overfitting mantendo todos os atributos.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01568" y="3383280"/>
            <a:ext cx="2542032" cy="38404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34107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melhor alpha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1554480"/>
            <a:ext cx="2743200" cy="2377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160020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Lasso Regression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27648" y="2084832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 L1 — pode zerar coeficientes. Realiza seleção implícita de atributos relevantes.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27648" y="3383280"/>
            <a:ext cx="2542032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27648" y="34107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melhor alpha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E8F8F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13308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</a:t>
            </a: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→ Pré-processamento → Remoção de colunas irrelevantes (date, rv1, rv2) → Normalização com StandardScaler → Divisão 80/20 → Treinamento → Validação Cruzada K-Fold (k=5) → Grid Search para Ridge e Lasso → Avaliação final com MSE, RMSE, MAE e R²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— Conclusões &amp; Próximos Passos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Energy Prediction — modelos lineares como baseline interpretável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8412480" cy="868680"/>
          </a:xfrm>
          <a:prstGeom prst="rect">
            <a:avLst/>
          </a:prstGeom>
          <a:solidFill>
            <a:srgbClr val="E8F8F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344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1887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de regressão supervisionada concluído com sucesso!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97280" y="15087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 com Ridge e Lasso melhora estabilidade e reduz overfitting. R² indica problema de natureza complexa/não-linear.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2103120"/>
            <a:ext cx="4114800" cy="2651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Resultados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2578608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lineares capturam parte do comportamento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e Lasso oferecem estabilidade superior à Regressão Linear simples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baixo indica problema possivelmente não-linear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encontrou alpha ótimo para Ridge e Lasso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lineares servem como excelentes baselines interpretáveis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2103120"/>
            <a:ext cx="4114800" cy="2651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D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0060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Próximos Passos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46320" y="2578608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modelos não-lineares: Random Forest, XGBoost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redes neurais artificiais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atributos temporais com coluna 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avançadas de seleção de atributos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avançada de hiperparâmetros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2743200" cy="2743200"/>
          </a:xfrm>
          <a:prstGeom prst="ellipse">
            <a:avLst/>
          </a:prstGeom>
          <a:solidFill>
            <a:srgbClr val="3A7BD5">
              <a:alpha val="25000"/>
            </a:srgbClr>
          </a:solidFill>
          <a:ln w="12700">
            <a:solidFill>
              <a:srgbClr val="3A7BD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315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743200" y="2286000"/>
            <a:ext cx="36576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Inteligência Artificial —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Kauê Cruz Gomes  |  Abimael Gomes Mesquita Filho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Matrícula: 585384  |  583351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86000" y="3703320"/>
            <a:ext cx="2377440" cy="1097280"/>
          </a:xfrm>
          <a:prstGeom prst="rect">
            <a:avLst/>
          </a:prstGeom>
          <a:solidFill>
            <a:srgbClr val="3A7BD5">
              <a:alpha val="20000"/>
            </a:srgbClr>
          </a:solidFill>
          <a:ln w="12700">
            <a:solidFill>
              <a:srgbClr val="3A7BD5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95728" y="37673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KNN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95728" y="40416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89,39%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395728" y="437083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— Log + k=18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3703320"/>
            <a:ext cx="2377440" cy="1097280"/>
          </a:xfrm>
          <a:prstGeom prst="rect">
            <a:avLst/>
          </a:prstGeom>
          <a:solidFill>
            <a:srgbClr val="3A7BD5">
              <a:alpha val="20000"/>
            </a:srgbClr>
          </a:solidFill>
          <a:ln w="12700">
            <a:solidFill>
              <a:srgbClr val="3A7BD5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38928" y="37673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Regressão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38928" y="40416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38928" y="4370832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Ridge, Lasso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Inteligência Artificial</dc:title>
  <dc:subject>PptxGenJS Presentation</dc:subject>
  <dc:creator>Kauê Cruz Gomes &amp; Abimael Filho</dc:creator>
  <cp:lastModifiedBy>Kauê Cruz Gomes &amp; Abimael Filho</cp:lastModifiedBy>
  <cp:revision>36</cp:revision>
  <dcterms:created xsi:type="dcterms:W3CDTF">2026-05-18T00:16:51Z</dcterms:created>
  <dcterms:modified xsi:type="dcterms:W3CDTF">2026-05-18T15:23:46Z</dcterms:modified>
</cp:coreProperties>
</file>