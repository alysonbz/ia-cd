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6705432" cy="73152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05432" y="164592"/>
            <a:ext cx="5486262" cy="73152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200" b="1" i="0">
                <a:solidFill>
                  <a:srgbClr val="00C2FF"/>
                </a:solidFill>
                <a:latin typeface="Aptos Display"/>
              </a:defRPr>
            </a:pPr>
            <a:r>
              <a:t>PROJETO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777240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4000" b="1" i="0">
                <a:solidFill>
                  <a:srgbClr val="FFFFFF"/>
                </a:solidFill>
                <a:latin typeface="Aptos Display"/>
              </a:defRPr>
            </a:pPr>
            <a:r>
              <a:t>INTELIGÊNCIA</a:t>
            </a:r>
            <a:br/>
            <a:r>
              <a:t>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9875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CDDCFF"/>
                </a:solidFill>
                <a:latin typeface="Aptos"/>
              </a:defRPr>
            </a:pPr>
            <a:r>
              <a:t>Classificação com KNN  •  Regressão Linear Supervisionada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297680"/>
            <a:ext cx="3611880" cy="621792"/>
          </a:xfrm>
          <a:prstGeom prst="roundRect">
            <a:avLst/>
          </a:prstGeom>
          <a:solidFill>
            <a:srgbClr val="1A2F68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498848"/>
            <a:ext cx="333756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Kauê Cruz Gomes   |   Abimael Gomes M. Filho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1663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BECFF0"/>
                </a:solidFill>
                <a:latin typeface="Aptos"/>
              </a:defRPr>
            </a:pPr>
            <a:r>
              <a:t>Disciplina: Inteligência Artificial • 2026</a:t>
            </a:r>
          </a:p>
        </p:txBody>
      </p:sp>
      <p:sp>
        <p:nvSpPr>
          <p:cNvPr id="12" name="Oval 11"/>
          <p:cNvSpPr/>
          <p:nvPr/>
        </p:nvSpPr>
        <p:spPr>
          <a:xfrm>
            <a:off x="9235440" y="914400"/>
            <a:ext cx="868680" cy="868680"/>
          </a:xfrm>
          <a:prstGeom prst="ellipse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04120" y="1417320"/>
            <a:ext cx="566928" cy="566928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6840" y="1874519"/>
            <a:ext cx="384048" cy="384048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52760" y="2148840"/>
            <a:ext cx="292608" cy="292608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0" y="2560320"/>
            <a:ext cx="219456" cy="219456"/>
          </a:xfrm>
          <a:prstGeom prst="ellipse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B9C6DE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B9C6D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Roteiro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Primeiro o modelo de classificação; depois o modelo de regressão.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VISÃO GERAL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108813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54480"/>
            <a:ext cx="475488" cy="475488"/>
          </a:xfrm>
          <a:prstGeom prst="ellipse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09928"/>
            <a:ext cx="29260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72768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A1738"/>
                </a:solidFill>
                <a:latin typeface="Aptos Display"/>
              </a:defRPr>
            </a:pPr>
            <a:r>
              <a:t>Classificação com KNN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18488"/>
            <a:ext cx="5943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Dataset, tratamento, normalizações e treinamento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96312"/>
            <a:ext cx="108813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633472"/>
            <a:ext cx="475488" cy="475488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88920"/>
            <a:ext cx="29260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5176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A1738"/>
                </a:solidFill>
                <a:latin typeface="Aptos Display"/>
              </a:defRPr>
            </a:pPr>
            <a:r>
              <a:t>Resultados KNN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97480"/>
            <a:ext cx="5943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Acurácia, matriz de confusão e classification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75304"/>
            <a:ext cx="108813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712464"/>
            <a:ext cx="475488" cy="475488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67912"/>
            <a:ext cx="29260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30752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A1738"/>
                </a:solidFill>
                <a:latin typeface="Aptos Display"/>
              </a:defRPr>
            </a:pPr>
            <a:r>
              <a:t>Regressão Supervisionada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76472"/>
            <a:ext cx="5943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Dataset Energy, correlações, Linear, Ridge e Lasso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54296"/>
            <a:ext cx="108813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791456"/>
            <a:ext cx="475488" cy="475488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946904"/>
            <a:ext cx="29260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09744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A1738"/>
                </a:solidFill>
                <a:latin typeface="Aptos Display"/>
              </a:defRPr>
            </a:pPr>
            <a:r>
              <a:t>Resultados e Conclusões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855464"/>
            <a:ext cx="5943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Métricas, validação cruzada, Grid Search e próximos passos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71026"/>
          </a:solidFill>
          <a:ln w="9525">
            <a:solidFill>
              <a:srgbClr val="071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828800" cy="384048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16152"/>
            <a:ext cx="1554480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CLASSIFICAÇÃO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9875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FFFFF"/>
                </a:solidFill>
                <a:latin typeface="Aptos Display"/>
              </a:defRPr>
            </a:pPr>
            <a:r>
              <a:t>PARTE 1 — CLASSIFICAÇÃO COM KNN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8778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CDDCFF"/>
                </a:solidFill>
                <a:latin typeface="Aptos"/>
              </a:defRPr>
            </a:pPr>
            <a:r>
              <a:t>Online Shoppers Intention Dataset • Predição de compra em e-commerce</a:t>
            </a:r>
          </a:p>
        </p:txBody>
      </p:sp>
      <p:sp>
        <p:nvSpPr>
          <p:cNvPr id="9" name="Oval 8"/>
          <p:cNvSpPr/>
          <p:nvPr/>
        </p:nvSpPr>
        <p:spPr>
          <a:xfrm>
            <a:off x="8686800" y="4800600"/>
            <a:ext cx="329184" cy="329184"/>
          </a:xfrm>
          <a:prstGeom prst="ellipse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9720" y="4946904"/>
            <a:ext cx="329184" cy="329184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4800600"/>
            <a:ext cx="329184" cy="329184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95560" y="4946904"/>
            <a:ext cx="329184" cy="329184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B9C6DE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B9C6D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Classificação — Dataset e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KNN aplicado ao comportamento de navegação de usuários em e-commerce.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98448"/>
            <a:ext cx="534924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0070F3"/>
                </a:solidFill>
                <a:latin typeface="Aptos Display"/>
              </a:defRPr>
            </a:pPr>
            <a:r>
              <a:t>Objetivo do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11680"/>
            <a:ext cx="4663440" cy="150876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Prever se o usuário realizará uma compra ou não.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Variável-alvo: Revenue (comprou / não comprou).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O KNN foi escolhido por ser supervisionado e baseado em distância.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A análise compara normalizações e valores de k para medir o desempenho.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814FFF"/>
                </a:solidFill>
                <a:latin typeface="Aptos Display"/>
              </a:defRPr>
            </a:pPr>
            <a:r>
              <a:t>Dados analisados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51960"/>
            <a:ext cx="4663440" cy="9601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Páginas visitadas e tempo gasto nas páginas.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Taxa de rejeição, Page Values, mês, tipo de visitante e outros atributos.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Sem valores nulos; registros duplicados foram removidos.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2194560" cy="1051560"/>
          </a:xfrm>
          <a:prstGeom prst="roundRect">
            <a:avLst/>
          </a:prstGeom>
          <a:solidFill>
            <a:srgbClr val="E8F2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81912"/>
            <a:ext cx="1956815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70F3"/>
                </a:solidFill>
                <a:latin typeface="Aptos Display"/>
              </a:defRPr>
            </a:pPr>
            <a: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variável-alvo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417320"/>
            <a:ext cx="2194560" cy="1051560"/>
          </a:xfrm>
          <a:prstGeom prst="roundRect">
            <a:avLst/>
          </a:prstGeom>
          <a:solidFill>
            <a:srgbClr val="F2EC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1581912"/>
            <a:ext cx="1956815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814FFF"/>
                </a:solidFill>
                <a:latin typeface="Aptos Display"/>
              </a:defRPr>
            </a:pPr>
            <a:r>
              <a:t>80/20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5740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treino e teste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80360"/>
            <a:ext cx="2194560" cy="1051560"/>
          </a:xfrm>
          <a:prstGeom prst="roundRect">
            <a:avLst/>
          </a:prstGeom>
          <a:solidFill>
            <a:srgbClr val="E8FFF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044952"/>
            <a:ext cx="1956815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582"/>
                </a:solidFill>
                <a:latin typeface="Aptos Display"/>
              </a:defRPr>
            </a:pPr>
            <a:r>
              <a:t>k = 1 a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39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faixa testada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2880360"/>
            <a:ext cx="2194560" cy="105156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3044952"/>
            <a:ext cx="1956815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FF9720"/>
                </a:solidFill>
                <a:latin typeface="Aptos Display"/>
              </a:defRPr>
            </a:pPr>
            <a:r>
              <a:t>cv =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520439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validação cruzada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434840"/>
            <a:ext cx="4663440" cy="1097280"/>
          </a:xfrm>
          <a:prstGeom prst="roundRect">
            <a:avLst/>
          </a:prstGeom>
          <a:solidFill>
            <a:srgbClr val="F5F9FF"/>
          </a:solidFill>
          <a:ln w="9525">
            <a:solidFill>
              <a:srgbClr val="D5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645152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0A1738"/>
                </a:solidFill>
                <a:latin typeface="Aptos"/>
              </a:defRPr>
            </a:pPr>
            <a:r>
              <a:t>Mensagem-chave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965192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O modelo transforma o comportamento de navegação em uma previsão: o usuário comprou ou não comprou.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Pipeline do Projeto de Classificação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Etapas realizadas do carregamento dos dados até a avaliação final.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PROCESSO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154680"/>
            <a:ext cx="9966960" cy="41148"/>
          </a:xfrm>
          <a:prstGeom prst="rect">
            <a:avLst/>
          </a:prstGeom>
          <a:solidFill>
            <a:srgbClr val="D2E0F6"/>
          </a:solidFill>
          <a:ln w="9525">
            <a:solidFill>
              <a:srgbClr val="D2E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34640"/>
            <a:ext cx="658368" cy="658368"/>
          </a:xfrm>
          <a:prstGeom prst="ellipse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Exploração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head(), info(), describe(), shape()</a:t>
            </a:r>
          </a:p>
        </p:txBody>
      </p:sp>
      <p:sp>
        <p:nvSpPr>
          <p:cNvPr id="13" name="Oval 12"/>
          <p:cNvSpPr/>
          <p:nvPr/>
        </p:nvSpPr>
        <p:spPr>
          <a:xfrm>
            <a:off x="2377440" y="2834640"/>
            <a:ext cx="658368" cy="658368"/>
          </a:xfrm>
          <a:prstGeom prst="ellipse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Tratamento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nulos, duplicados, inconsistências</a:t>
            </a:r>
          </a:p>
        </p:txBody>
      </p:sp>
      <p:sp>
        <p:nvSpPr>
          <p:cNvPr id="17" name="Oval 16"/>
          <p:cNvSpPr/>
          <p:nvPr/>
        </p:nvSpPr>
        <p:spPr>
          <a:xfrm>
            <a:off x="3977639" y="2834640"/>
            <a:ext cx="658368" cy="658368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get_dummies() e booleanos → inteiros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2834640"/>
            <a:ext cx="658368" cy="658368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72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Divisão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X/y e treino/teste 80/20</a:t>
            </a:r>
          </a:p>
        </p:txBody>
      </p:sp>
      <p:sp>
        <p:nvSpPr>
          <p:cNvPr id="25" name="Oval 24"/>
          <p:cNvSpPr/>
          <p:nvPr/>
        </p:nvSpPr>
        <p:spPr>
          <a:xfrm>
            <a:off x="7178040" y="2834640"/>
            <a:ext cx="658368" cy="658368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74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Normalização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79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Min-Max, Z-score e Log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2834640"/>
            <a:ext cx="658368" cy="658368"/>
          </a:xfrm>
          <a:prstGeom prst="ellipse">
            <a:avLst/>
          </a:prstGeom>
          <a:solidFill>
            <a:srgbClr val="EB4B4B"/>
          </a:solidFill>
          <a:ln w="9525">
            <a:solidFill>
              <a:srgbClr val="E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76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KNN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treino com k de 1 até 20</a:t>
            </a:r>
          </a:p>
        </p:txBody>
      </p:sp>
      <p:sp>
        <p:nvSpPr>
          <p:cNvPr id="33" name="Oval 32"/>
          <p:cNvSpPr/>
          <p:nvPr/>
        </p:nvSpPr>
        <p:spPr>
          <a:xfrm>
            <a:off x="10378440" y="2834640"/>
            <a:ext cx="658368" cy="658368"/>
          </a:xfrm>
          <a:prstGeom prst="ellipse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978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Avaliação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acurácia, matriz e report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" y="1325880"/>
            <a:ext cx="10012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1536192"/>
            <a:ext cx="3017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0070F3"/>
                </a:solidFill>
                <a:latin typeface="Aptos Display"/>
              </a:defRPr>
            </a:pPr>
            <a:r>
              <a:t>Por que esse pipeline importa?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1481328"/>
            <a:ext cx="6492240" cy="3931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20" b="0" i="0">
                <a:solidFill>
                  <a:srgbClr val="5C687F"/>
                </a:solidFill>
                <a:latin typeface="Aptos"/>
              </a:defRPr>
            </a:pPr>
            <a:r>
              <a:t>Como o KNN mede distância entre pontos, variáveis fora de escala e categorias não convertidas podem distorcer o resultado. Por isso, pré-processamento e normalização são etapas decisivas.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Normalização &amp; Escolha do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Comparação da acurácia do KNN para diferentes técnicas de normalização.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188720"/>
            <a:ext cx="6263640" cy="44805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 Image 2026-05-17 at 19.13.3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234440"/>
            <a:ext cx="5852159" cy="43891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95160" y="1417320"/>
          <a:ext cx="4617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30"/>
                <a:gridCol w="1154430"/>
                <a:gridCol w="1154430"/>
                <a:gridCol w="115443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03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Normalização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Melhor acurácia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Melhor k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Interpretação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Min-Max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86,27%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Boa base, mas sensível a outliers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Z-score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87,91%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Melhora com escala padronizada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Log ⭐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89,39%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Melhor resultado geral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95160" y="3337560"/>
            <a:ext cx="4617720" cy="1325880"/>
          </a:xfrm>
          <a:prstGeom prst="roundRect">
            <a:avLst/>
          </a:prstGeom>
          <a:solidFill>
            <a:srgbClr val="E8F2FF"/>
          </a:solidFill>
          <a:ln w="9525">
            <a:solidFill>
              <a:srgbClr val="CED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3547872"/>
            <a:ext cx="150876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20" b="1" i="0">
                <a:solidFill>
                  <a:srgbClr val="0070F3"/>
                </a:solidFill>
                <a:latin typeface="Aptos"/>
              </a:defRPr>
            </a:pPr>
            <a:r>
              <a:t>Interpretação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3877056"/>
            <a:ext cx="3977639" cy="420624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162038"/>
                </a:solidFill>
                <a:latin typeface="Aptos"/>
              </a:defRPr>
            </a:pPr>
            <a:r>
              <a:t>A transformação Log reduziu a influência de valores extremos e melhorou o cálculo de distância do KNN.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4983480"/>
            <a:ext cx="1417320" cy="777240"/>
          </a:xfrm>
          <a:prstGeom prst="roundRect">
            <a:avLst/>
          </a:prstGeom>
          <a:solidFill>
            <a:srgbClr val="E8FFF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5148072"/>
            <a:ext cx="117957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582"/>
                </a:solidFill>
                <a:latin typeface="Aptos Display"/>
              </a:defRPr>
            </a:pPr>
            <a:r>
              <a:t>89,39%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623560"/>
            <a:ext cx="1143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acurácia final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4983480"/>
            <a:ext cx="1417320" cy="777240"/>
          </a:xfrm>
          <a:prstGeom prst="roundRect">
            <a:avLst/>
          </a:prstGeom>
          <a:solidFill>
            <a:srgbClr val="F2EC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5148072"/>
            <a:ext cx="117957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814FFF"/>
                </a:solidFill>
                <a:latin typeface="Aptos Display"/>
              </a:defRPr>
            </a:pPr>
            <a:r>
              <a:t>k =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5623560"/>
            <a:ext cx="1143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melhor parâmetro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4983480"/>
            <a:ext cx="1417320" cy="77724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14432" y="5148072"/>
            <a:ext cx="117957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FF9720"/>
                </a:solidFill>
                <a:latin typeface="Aptos Display"/>
              </a:defRPr>
            </a:pPr>
            <a:r>
              <a:t>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5623560"/>
            <a:ext cx="1143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melhor escala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Validação Cruzada e Grid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Como foi confirmada a melhor configuração do KNN.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534924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4924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642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750" b="1" i="0">
                <a:solidFill>
                  <a:srgbClr val="814FFF"/>
                </a:solidFill>
                <a:latin typeface="Aptos Display"/>
              </a:defRPr>
            </a:pPr>
            <a:r>
              <a:t>Validação Cruzada (cv = 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12848"/>
            <a:ext cx="4572000" cy="16002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Aplicada com cross_val_score().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Reduz a dependência de uma única divisão treino/teste.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Fornece estimativa mais confiável da generalização.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Confirmou consistência do desempenho obtido.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6642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750" b="1" i="0">
                <a:solidFill>
                  <a:srgbClr val="00C582"/>
                </a:solidFill>
                <a:latin typeface="Aptos Display"/>
              </a:defRPr>
            </a:pPr>
            <a:r>
              <a:t>Grid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12848"/>
            <a:ext cx="4572000" cy="16002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Usado para escolher automaticamente o melhor valor de k.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O resultado foi semelhante ao observado no gráfico.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A melhor parametrização foi k = 18 com Log.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Mostrou robustez na escolha do hiperparâmetro.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5074920"/>
            <a:ext cx="3794760" cy="640080"/>
          </a:xfrm>
          <a:prstGeom prst="round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5285232"/>
            <a:ext cx="34290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080" b="1" i="0">
                <a:solidFill>
                  <a:srgbClr val="FFFFFF"/>
                </a:solidFill>
                <a:latin typeface="Aptos"/>
              </a:defRPr>
            </a:pPr>
            <a:r>
              <a:t>Conclusão: Log + k=18 foi a configuração mais consistente para o KNN.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Matriz de Confusão — KNN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Modelo KNN com normalização Log e k = 18.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AVALIAÇÃO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7040879" cy="4892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triz confusã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143000"/>
            <a:ext cx="6400800" cy="4800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1691640" cy="868680"/>
          </a:xfrm>
          <a:prstGeom prst="roundRect">
            <a:avLst/>
          </a:prstGeom>
          <a:solidFill>
            <a:srgbClr val="E8F2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399032"/>
            <a:ext cx="145389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70F3"/>
                </a:solidFill>
                <a:latin typeface="Aptos Display"/>
              </a:defRPr>
            </a:pPr>
            <a:r>
              <a:t>2001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74519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verdadeiros negativos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234440"/>
            <a:ext cx="1691640" cy="868680"/>
          </a:xfrm>
          <a:prstGeom prst="roundRect">
            <a:avLst/>
          </a:prstGeom>
          <a:solidFill>
            <a:srgbClr val="E8FFF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65792" y="1399032"/>
            <a:ext cx="145389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582"/>
                </a:solidFill>
                <a:latin typeface="Aptos Display"/>
              </a:defRPr>
            </a:pPr>
            <a:r>
              <a:t>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874519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verdadeiros positivos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395728"/>
            <a:ext cx="1691640" cy="86868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560320"/>
            <a:ext cx="145389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FF9720"/>
                </a:solidFill>
                <a:latin typeface="Aptos Display"/>
              </a:defRPr>
            </a:pPr>
            <a:r>
              <a:t>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03580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falsos positivos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2395728"/>
            <a:ext cx="1691640" cy="868680"/>
          </a:xfrm>
          <a:prstGeom prst="roundRect">
            <a:avLst/>
          </a:prstGeom>
          <a:solidFill>
            <a:srgbClr val="FFECEC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2560320"/>
            <a:ext cx="145389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EB4B4B"/>
                </a:solidFill>
                <a:latin typeface="Aptos Display"/>
              </a:defRPr>
            </a:pPr>
            <a:r>
              <a:t>181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03580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falsos negativos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703320"/>
            <a:ext cx="3611880" cy="1325880"/>
          </a:xfrm>
          <a:prstGeom prst="roundRect">
            <a:avLst/>
          </a:prstGeom>
          <a:solidFill>
            <a:srgbClr val="F5F8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3904487"/>
            <a:ext cx="201168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0A1738"/>
                </a:solidFill>
                <a:latin typeface="Aptos"/>
              </a:defRPr>
            </a:pPr>
            <a:r>
              <a:t>Leitura do 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4279392"/>
            <a:ext cx="3063240" cy="40233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5C687F"/>
                </a:solidFill>
                <a:latin typeface="Aptos"/>
              </a:defRPr>
            </a:pPr>
            <a:r>
              <a:t>O modelo acerta muito bem a classe 0, mas ainda perde compras reais por causa dos falsos negativos.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285232"/>
            <a:ext cx="1737360" cy="685800"/>
          </a:xfrm>
          <a:prstGeom prst="roundRect">
            <a:avLst/>
          </a:prstGeom>
          <a:solidFill>
            <a:srgbClr val="E8FFF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5672" y="5449824"/>
            <a:ext cx="14996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582"/>
                </a:solidFill>
                <a:latin typeface="Aptos Display"/>
              </a:defRPr>
            </a:pPr>
            <a:r>
              <a:t>89,39%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5925312"/>
            <a:ext cx="1463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acurácia geral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Métricas por classe: Precision, Recall, F1-score e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MÉTRICAS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124712"/>
            <a:ext cx="8229600" cy="4892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 Image 2026-05-17 at 19.19.3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8" y="1170432"/>
            <a:ext cx="7200900" cy="4800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942832" y="1280160"/>
            <a:ext cx="269748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2288" y="157276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070F3"/>
                </a:solidFill>
                <a:latin typeface="Aptos Display"/>
              </a:defRPr>
            </a:pPr>
            <a:r>
              <a:t>Pontos importantes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029968"/>
            <a:ext cx="2240280" cy="2468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180" b="0">
                <a:solidFill>
                  <a:srgbClr val="162038"/>
                </a:solidFill>
                <a:latin typeface="Aptos"/>
              </a:defRPr>
            </a:pPr>
            <a:r>
              <a:t>• Classe 0: precision 0,92 e recall 0,96.</a:t>
            </a:r>
          </a:p>
          <a:p>
            <a:pPr>
              <a:spcAft>
                <a:spcPts val="0"/>
              </a:spcAft>
              <a:defRPr sz="1180" b="0">
                <a:solidFill>
                  <a:srgbClr val="162038"/>
                </a:solidFill>
                <a:latin typeface="Aptos"/>
              </a:defRPr>
            </a:pPr>
            <a:r>
              <a:t>• Classe 1: precision 0,70, recall 0,50 e F1 0,58.</a:t>
            </a:r>
          </a:p>
          <a:p>
            <a:pPr>
              <a:spcAft>
                <a:spcPts val="0"/>
              </a:spcAft>
              <a:defRPr sz="1180" b="0">
                <a:solidFill>
                  <a:srgbClr val="162038"/>
                </a:solidFill>
                <a:latin typeface="Aptos"/>
              </a:defRPr>
            </a:pPr>
            <a:r>
              <a:t>• O support mostra desbalanceamento: 2079 vs 362.</a:t>
            </a:r>
          </a:p>
          <a:p>
            <a:pPr>
              <a:spcAft>
                <a:spcPts val="0"/>
              </a:spcAft>
              <a:defRPr sz="1180" b="0">
                <a:solidFill>
                  <a:srgbClr val="162038"/>
                </a:solidFill>
                <a:latin typeface="Aptos"/>
              </a:defRPr>
            </a:pPr>
            <a:r>
              <a:t>• A acurácia é alta, mas a classe positiva exige atenção.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25712" y="4736592"/>
            <a:ext cx="2331720" cy="50292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4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4910328"/>
            <a:ext cx="2103120" cy="12801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19" b="1" i="0">
                <a:solidFill>
                  <a:srgbClr val="FF9720"/>
                </a:solidFill>
                <a:latin typeface="Aptos"/>
              </a:defRPr>
            </a:pPr>
            <a:r>
              <a:t>Acurácia ≠ desempenho completo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Classificação — Conclusões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Síntese do desempenho do KNN e melhorias possíveis.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CONCLUSÕES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49240" cy="4343400"/>
          </a:xfrm>
          <a:prstGeom prst="roundRect">
            <a:avLst/>
          </a:prstGeom>
          <a:solidFill>
            <a:srgbClr val="E8F2FF"/>
          </a:solidFill>
          <a:ln w="9525"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2286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0070F3"/>
                </a:solidFill>
                <a:latin typeface="Aptos Display"/>
              </a:defRPr>
            </a:pPr>
            <a:r>
              <a:t>Conclusões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663440" cy="21031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Resultados satisfatórios para o problema de classificação.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Normalização Log superou Min-Max e Z-score.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A escolha adequada de k influenciou diretamente o desempenho.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O principal desafio foi detectar todos os casos positivos.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4924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292608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00C582"/>
                </a:solidFill>
                <a:latin typeface="Aptos Display"/>
              </a:defRPr>
            </a:pPr>
            <a:r>
              <a:t>Próximos Passos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23317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Aplicar balanceamento de classes (ex.: SMOTE).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Testar Random Forest, SVM e outros classificadores.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Usar seleção automática de atributos.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Avaliar AUC-ROC, F1-macro e métricas além da acurácia.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Aumentar a faixa de k e comparar validações.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71026"/>
          </a:solidFill>
          <a:ln w="9525">
            <a:solidFill>
              <a:srgbClr val="071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828800" cy="384048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16152"/>
            <a:ext cx="1554480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REGRESSÃO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9875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FFFFF"/>
                </a:solidFill>
                <a:latin typeface="Aptos Display"/>
              </a:defRPr>
            </a:pPr>
            <a:r>
              <a:t>PARTE 2 — REGRESSÃO SUPERVISIONADA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8778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CDDCFF"/>
                </a:solidFill>
                <a:latin typeface="Aptos"/>
              </a:defRPr>
            </a:pPr>
            <a:r>
              <a:t>Appliances Energy Prediction Dataset • Consumo energético residencial em Wh</a:t>
            </a:r>
          </a:p>
        </p:txBody>
      </p:sp>
      <p:sp>
        <p:nvSpPr>
          <p:cNvPr id="9" name="Oval 8"/>
          <p:cNvSpPr/>
          <p:nvPr/>
        </p:nvSpPr>
        <p:spPr>
          <a:xfrm>
            <a:off x="8686800" y="4800600"/>
            <a:ext cx="329184" cy="329184"/>
          </a:xfrm>
          <a:prstGeom prst="ellipse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9720" y="4946904"/>
            <a:ext cx="329184" cy="329184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4800600"/>
            <a:ext cx="329184" cy="329184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95560" y="4946904"/>
            <a:ext cx="329184" cy="329184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B9C6DE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B9C6D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Regressão — Dataset e Pré-processamento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Predição do consumo de energia dos eletrodomésticos: Appliances.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21208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814FFF"/>
                </a:solidFill>
                <a:latin typeface="Aptos Display"/>
              </a:defRPr>
            </a:pPr>
            <a:r>
              <a:t>Energy Data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03120"/>
            <a:ext cx="4617720" cy="21031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60" b="0">
                <a:solidFill>
                  <a:srgbClr val="162038"/>
                </a:solidFill>
                <a:latin typeface="Aptos"/>
              </a:defRPr>
            </a:pPr>
            <a:r>
              <a:t>• Dados de uma residência na Bélgica.</a:t>
            </a:r>
          </a:p>
          <a:p>
            <a:pPr>
              <a:spcAft>
                <a:spcPts val="0"/>
              </a:spcAft>
              <a:defRPr sz="1360" b="0">
                <a:solidFill>
                  <a:srgbClr val="162038"/>
                </a:solidFill>
                <a:latin typeface="Aptos"/>
              </a:defRPr>
            </a:pPr>
            <a:r>
              <a:t>• Coleta a cada 10 minutos durante cerca de 4,5 meses.</a:t>
            </a:r>
          </a:p>
          <a:p>
            <a:pPr>
              <a:spcAft>
                <a:spcPts val="0"/>
              </a:spcAft>
              <a:defRPr sz="1360" b="0">
                <a:solidFill>
                  <a:srgbClr val="162038"/>
                </a:solidFill>
                <a:latin typeface="Aptos"/>
              </a:defRPr>
            </a:pPr>
            <a:r>
              <a:t>• Target: Appliances, consumo dos eletrodomésticos em Wh.</a:t>
            </a:r>
          </a:p>
          <a:p>
            <a:pPr>
              <a:spcAft>
                <a:spcPts val="0"/>
              </a:spcAft>
              <a:defRPr sz="1360" b="0">
                <a:solidFill>
                  <a:srgbClr val="162038"/>
                </a:solidFill>
                <a:latin typeface="Aptos"/>
              </a:defRPr>
            </a:pPr>
            <a:r>
              <a:t>• Features: temperaturas T1–T9, umidades RH_1–RH_9, clima externo, vento, pressão, visibilidade e outros.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280160"/>
            <a:ext cx="5440680" cy="4343400"/>
          </a:xfrm>
          <a:prstGeom prst="roundRect">
            <a:avLst/>
          </a:prstGeom>
          <a:solidFill>
            <a:srgbClr val="F2ECFF"/>
          </a:solidFill>
          <a:ln w="9525">
            <a:solidFill>
              <a:srgbClr val="D7C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0A1738"/>
                </a:solidFill>
                <a:latin typeface="Aptos Display"/>
              </a:defRPr>
            </a:pPr>
            <a:r>
              <a:t>Tratamento aplicado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4800600" cy="23317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30" b="0">
                <a:solidFill>
                  <a:srgbClr val="162038"/>
                </a:solidFill>
                <a:latin typeface="Aptos"/>
              </a:defRPr>
            </a:pPr>
            <a:r>
              <a:t>• Remoção das colunas não preditivas: date, rv1 e rv2.</a:t>
            </a:r>
          </a:p>
          <a:p>
            <a:pPr>
              <a:spcAft>
                <a:spcPts val="0"/>
              </a:spcAft>
              <a:defRPr sz="1330" b="0">
                <a:solidFill>
                  <a:srgbClr val="162038"/>
                </a:solidFill>
                <a:latin typeface="Aptos"/>
              </a:defRPr>
            </a:pPr>
            <a:r>
              <a:t>• Nenhum valor ausente relevante após o tratamento.</a:t>
            </a:r>
          </a:p>
          <a:p>
            <a:pPr>
              <a:spcAft>
                <a:spcPts val="0"/>
              </a:spcAft>
              <a:defRPr sz="1330" b="0">
                <a:solidFill>
                  <a:srgbClr val="162038"/>
                </a:solidFill>
                <a:latin typeface="Aptos"/>
              </a:defRPr>
            </a:pPr>
            <a:r>
              <a:t>• Dataset final: ~19.735 amostras × 26 features + 1 target.</a:t>
            </a:r>
          </a:p>
          <a:p>
            <a:pPr>
              <a:spcAft>
                <a:spcPts val="0"/>
              </a:spcAft>
              <a:defRPr sz="1330" b="0">
                <a:solidFill>
                  <a:srgbClr val="162038"/>
                </a:solidFill>
                <a:latin typeface="Aptos"/>
              </a:defRPr>
            </a:pPr>
            <a:r>
              <a:t>• StandardScaler aplicado apenas nas features, não no alvo.</a:t>
            </a:r>
          </a:p>
          <a:p>
            <a:pPr>
              <a:spcAft>
                <a:spcPts val="0"/>
              </a:spcAft>
              <a:defRPr sz="1330" b="0">
                <a:solidFill>
                  <a:srgbClr val="162038"/>
                </a:solidFill>
                <a:latin typeface="Aptos"/>
              </a:defRPr>
            </a:pPr>
            <a:r>
              <a:t>• Lasso configurado com max_iter = 10000 para convergência.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Correlação com Appliances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Correlação de Pearson de cada atributo com o consumo de energia.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ANÁLISE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79576"/>
            <a:ext cx="6720840" cy="4754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rrelacao_atribu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8196"/>
            <a:ext cx="662940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417320"/>
            <a:ext cx="406908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69164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814FFF"/>
                </a:solidFill>
                <a:latin typeface="Aptos Display"/>
              </a:defRPr>
            </a:pPr>
            <a:r>
              <a:t>Principais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167128"/>
            <a:ext cx="3520440" cy="2468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50" b="0">
                <a:solidFill>
                  <a:srgbClr val="162038"/>
                </a:solidFill>
                <a:latin typeface="Aptos"/>
              </a:defRPr>
            </a:pPr>
            <a:r>
              <a:t>• lights aparece como maior correlação positiva (~0,20).</a:t>
            </a:r>
          </a:p>
          <a:p>
            <a:pPr>
              <a:spcAft>
                <a:spcPts val="0"/>
              </a:spcAft>
              <a:defRPr sz="1250" b="0">
                <a:solidFill>
                  <a:srgbClr val="162038"/>
                </a:solidFill>
                <a:latin typeface="Aptos"/>
              </a:defRPr>
            </a:pPr>
            <a:r>
              <a:t>• T2, T6, T_out e Windspeed também têm correlação positiva.</a:t>
            </a:r>
          </a:p>
          <a:p>
            <a:pPr>
              <a:spcAft>
                <a:spcPts val="0"/>
              </a:spcAft>
              <a:defRPr sz="1250" b="0">
                <a:solidFill>
                  <a:srgbClr val="162038"/>
                </a:solidFill>
                <a:latin typeface="Aptos"/>
              </a:defRPr>
            </a:pPr>
            <a:r>
              <a:t>• RH_out apresenta a maior correlação negativa (~−0,15).</a:t>
            </a:r>
          </a:p>
          <a:p>
            <a:pPr>
              <a:spcAft>
                <a:spcPts val="0"/>
              </a:spcAft>
              <a:defRPr sz="1250" b="0">
                <a:solidFill>
                  <a:srgbClr val="162038"/>
                </a:solidFill>
                <a:latin typeface="Aptos"/>
              </a:defRPr>
            </a:pPr>
            <a:r>
              <a:t>• Nenhuma variável isolada explica fortemente o consumo.</a:t>
            </a:r>
          </a:p>
          <a:p>
            <a:pPr>
              <a:spcAft>
                <a:spcPts val="0"/>
              </a:spcAft>
              <a:defRPr sz="1250" b="0">
                <a:solidFill>
                  <a:srgbClr val="162038"/>
                </a:solidFill>
                <a:latin typeface="Aptos"/>
              </a:defRPr>
            </a:pPr>
            <a:r>
              <a:t>• O problema é multivariado e provavelmente não-linear.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Mapa de Correlação entre Atributos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Heatmap usado para enxergar relações entre todos os pares de variáveis.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HEATMAP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7543800" cy="49834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_correl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143000"/>
            <a:ext cx="6848855" cy="4892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75320" y="1325880"/>
            <a:ext cx="324612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00200"/>
            <a:ext cx="24688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814FFF"/>
                </a:solidFill>
                <a:latin typeface="Aptos Display"/>
              </a:defRPr>
            </a:pPr>
            <a:r>
              <a:t>Como interpretar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029968"/>
            <a:ext cx="2651760" cy="28346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Vermelho: correlação positiva forte.</a:t>
            </a:r>
          </a:p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Azul: correlação negativa forte.</a:t>
            </a:r>
          </a:p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Branco/cinza: correlação fraca ou nula.</a:t>
            </a:r>
          </a:p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Temperaturas internas formam blocos de alta correlação.</a:t>
            </a:r>
          </a:p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Umidades relativas também apresentam grupos correlacionados.</a:t>
            </a:r>
          </a:p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Appliances mantém correlações fracas com a maioria das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Regressão Linear Simples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Relação entre lights e Appliances: uma variável isolada não explica o consumo.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MODELO SIMPLES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6583679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ta_regressao_si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8755"/>
            <a:ext cx="6492240" cy="405764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06640" y="1325880"/>
            <a:ext cx="3794760" cy="868680"/>
          </a:xfrm>
          <a:prstGeom prst="roundRect">
            <a:avLst/>
          </a:prstGeom>
          <a:solidFill>
            <a:srgbClr val="FFEBEB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1490472"/>
            <a:ext cx="35570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EB4B4B"/>
                </a:solidFill>
                <a:latin typeface="Aptos Display"/>
              </a:defRPr>
            </a:pPr>
            <a:r>
              <a:t>R² = 0,049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somente 4,9% da variância explicada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68880"/>
            <a:ext cx="379476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2761488"/>
            <a:ext cx="2286000" cy="24688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814FFF"/>
                </a:solidFill>
                <a:latin typeface="Aptos Display"/>
              </a:defRPr>
            </a:pPr>
            <a:r>
              <a:t>Leitura do gráfico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3182112"/>
            <a:ext cx="3154680" cy="173736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162038"/>
                </a:solidFill>
                <a:latin typeface="Aptos"/>
              </a:defRPr>
            </a:pPr>
            <a:r>
              <a:t>• A tendência é positiva, mas fraca.</a:t>
            </a:r>
          </a:p>
          <a:p>
            <a:pPr>
              <a:spcAft>
                <a:spcPts val="0"/>
              </a:spcAft>
              <a:defRPr sz="1260" b="0">
                <a:solidFill>
                  <a:srgbClr val="162038"/>
                </a:solidFill>
                <a:latin typeface="Aptos"/>
              </a:defRPr>
            </a:pPr>
            <a:r>
              <a:t>• Os pontos estão muito dispersos em torno da reta.</a:t>
            </a:r>
          </a:p>
          <a:p>
            <a:pPr>
              <a:spcAft>
                <a:spcPts val="0"/>
              </a:spcAft>
              <a:defRPr sz="1260" b="0">
                <a:solidFill>
                  <a:srgbClr val="162038"/>
                </a:solidFill>
                <a:latin typeface="Aptos"/>
              </a:defRPr>
            </a:pPr>
            <a:r>
              <a:t>• O consumo tem picos e outliers.</a:t>
            </a:r>
          </a:p>
          <a:p>
            <a:pPr>
              <a:spcAft>
                <a:spcPts val="0"/>
              </a:spcAft>
              <a:defRPr sz="1260" b="0">
                <a:solidFill>
                  <a:srgbClr val="162038"/>
                </a:solidFill>
                <a:latin typeface="Aptos"/>
              </a:defRPr>
            </a:pPr>
            <a:r>
              <a:t>• A regressão simples serve para interpretação, mas não para alta predição.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Modelos de Regressão e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Comparação entre Linear, Ridge e Lasso no split treino/teste.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3429000" cy="9144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1790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0070F3"/>
                </a:solidFill>
                <a:latin typeface="Aptos Display"/>
              </a:defRPr>
            </a:pPr>
            <a:r>
              <a:t>Regressão Linear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47672"/>
            <a:ext cx="2971800" cy="3931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070" b="0" i="0">
                <a:solidFill>
                  <a:srgbClr val="5C687F"/>
                </a:solidFill>
                <a:latin typeface="Aptos"/>
              </a:defRPr>
            </a:pPr>
            <a:r>
              <a:t>Modelo base sem regularização. Captura relações lineares entre atributos e consumo.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3429000" cy="9144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51790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814FFF"/>
                </a:solidFill>
                <a:latin typeface="Aptos Display"/>
              </a:defRPr>
            </a:pPr>
            <a:r>
              <a:t>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1947672"/>
            <a:ext cx="2971800" cy="3931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070" b="0" i="0">
                <a:solidFill>
                  <a:srgbClr val="5C687F"/>
                </a:solidFill>
                <a:latin typeface="Aptos"/>
              </a:defRPr>
            </a:pPr>
            <a:r>
              <a:t>Regularização L2: penaliza coeficientes grandes e reduz instabilidade.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3444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429000" cy="91440"/>
          </a:xfrm>
          <a:prstGeom prst="rect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51790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00C582"/>
                </a:solidFill>
                <a:latin typeface="Aptos Display"/>
              </a:defRPr>
            </a:pPr>
            <a:r>
              <a:t>Lasso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947672"/>
            <a:ext cx="2971800" cy="3931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070" b="0" i="0">
                <a:solidFill>
                  <a:srgbClr val="5C687F"/>
                </a:solidFill>
                <a:latin typeface="Aptos"/>
              </a:defRPr>
            </a:pPr>
            <a:r>
              <a:t>Regularização L1: pode zerar coeficientes e realizar seleção implícita de atributos.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60120" y="3154680"/>
          <a:ext cx="52120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1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Modelo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Linear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~92 Wh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~54 Wh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~0,15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Ridge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~92 Wh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~54 Wh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~0,15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Lasso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~93 Wh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~55 Wh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~0,14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583680" y="3154680"/>
            <a:ext cx="4526280" cy="155448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0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438144"/>
            <a:ext cx="29260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FF9720"/>
                </a:solidFill>
                <a:latin typeface="Aptos Display"/>
              </a:defRPr>
            </a:pPr>
            <a:r>
              <a:t>Interpretação dos resultados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3767328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162038"/>
                </a:solidFill>
                <a:latin typeface="Aptos"/>
              </a:defRPr>
            </a:pPr>
            <a:r>
              <a:t>R² em torno de 0,15 indica que os modelos lineares explicam apenas cerca de 15% da variação do consumo. A limitação principal não foi overfitting, e sim a natureza não-linear e comportamental do problema.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Validação Cruzada e Grid Search — Regressão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Estabilidade dos modelos e busca do hiperparâmetro alpha.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AVALIAÇÃO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325880"/>
          <a:ext cx="53949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Modelo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médio (CV)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Desvio padrão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Observação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Linear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~0,15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~0,01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Estável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Ridge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~0,15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~0,01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Estável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Lasso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~0,14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~0,01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Esparsidade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246120"/>
          <a:ext cx="5394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Modelo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Melhor alpha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(CV)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Regularização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Ridge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~0,01 a 1,0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~0,15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L2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Lasso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~0,14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L1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46520" y="1325880"/>
            <a:ext cx="4709160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2763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814FFF"/>
                </a:solidFill>
                <a:latin typeface="Aptos Display"/>
              </a:defRPr>
            </a:pPr>
            <a:r>
              <a:t>O que os testes mostram?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075688"/>
            <a:ext cx="3977639" cy="19202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10" b="0">
                <a:solidFill>
                  <a:srgbClr val="162038"/>
                </a:solidFill>
                <a:latin typeface="Aptos"/>
              </a:defRPr>
            </a:pPr>
            <a:r>
              <a:t>• A validação cruzada confirma estabilidade entre os folds.</a:t>
            </a:r>
          </a:p>
          <a:p>
            <a:pPr>
              <a:spcAft>
                <a:spcPts val="0"/>
              </a:spcAft>
              <a:defRPr sz="1210" b="0">
                <a:solidFill>
                  <a:srgbClr val="162038"/>
                </a:solidFill>
                <a:latin typeface="Aptos"/>
              </a:defRPr>
            </a:pPr>
            <a:r>
              <a:t>• O desvio baixo (~0,01) indica pouca variação de desempenho.</a:t>
            </a:r>
          </a:p>
          <a:p>
            <a:pPr>
              <a:spcAft>
                <a:spcPts val="0"/>
              </a:spcAft>
              <a:defRPr sz="1210" b="0">
                <a:solidFill>
                  <a:srgbClr val="162038"/>
                </a:solidFill>
                <a:latin typeface="Aptos"/>
              </a:defRPr>
            </a:pPr>
            <a:r>
              <a:t>• Ridge e Linear ficaram muito próximos, sugerindo que a regularização não trouxe ganho expressivo.</a:t>
            </a:r>
          </a:p>
          <a:p>
            <a:pPr>
              <a:spcAft>
                <a:spcPts val="0"/>
              </a:spcAft>
              <a:defRPr sz="1210" b="0">
                <a:solidFill>
                  <a:srgbClr val="162038"/>
                </a:solidFill>
                <a:latin typeface="Aptos"/>
              </a:defRPr>
            </a:pPr>
            <a:r>
              <a:t>• Lasso promove esparsidade, mas perdeu um pouco de desempenho.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5074920"/>
            <a:ext cx="7772400" cy="594360"/>
          </a:xfrm>
          <a:prstGeom prst="round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5285232"/>
            <a:ext cx="7315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120" b="1" i="0">
                <a:solidFill>
                  <a:srgbClr val="FFFFFF"/>
                </a:solidFill>
                <a:latin typeface="Aptos"/>
              </a:defRPr>
            </a:pPr>
            <a:r>
              <a:t>Conclusão técnica: o gargalo está na linearidade do modelo, não em overfitting severo.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Regressão — Conclusões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Por que os resultados foram modestos e como evoluir o projeto.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CONCLUSÕES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49240" cy="4434840"/>
          </a:xfrm>
          <a:prstGeom prst="roundRect">
            <a:avLst/>
          </a:prstGeom>
          <a:solidFill>
            <a:srgbClr val="F2ECFF"/>
          </a:solidFill>
          <a:ln w="9525">
            <a:solidFill>
              <a:srgbClr val="D7C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814FFF"/>
                </a:solidFill>
                <a:latin typeface="Aptos Display"/>
              </a:defRPr>
            </a:pPr>
            <a:r>
              <a:t>Conclusões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663440" cy="25146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20" b="0">
                <a:solidFill>
                  <a:srgbClr val="162038"/>
                </a:solidFill>
                <a:latin typeface="Aptos"/>
              </a:defRPr>
            </a:pPr>
            <a:r>
              <a:t>• Pipeline completo de regressão supervisionada foi executado.</a:t>
            </a:r>
          </a:p>
          <a:p>
            <a:pPr>
              <a:spcAft>
                <a:spcPts val="0"/>
              </a:spcAft>
              <a:defRPr sz="1320" b="0">
                <a:solidFill>
                  <a:srgbClr val="162038"/>
                </a:solidFill>
                <a:latin typeface="Aptos"/>
              </a:defRPr>
            </a:pPr>
            <a:r>
              <a:t>• R² ≈ 0,15 mostra poder preditivo limitado dos modelos lineares.</a:t>
            </a:r>
          </a:p>
          <a:p>
            <a:pPr>
              <a:spcAft>
                <a:spcPts val="0"/>
              </a:spcAft>
              <a:defRPr sz="1320" b="0">
                <a:solidFill>
                  <a:srgbClr val="162038"/>
                </a:solidFill>
                <a:latin typeface="Aptos"/>
              </a:defRPr>
            </a:pPr>
            <a:r>
              <a:t>• Nenhuma variável isolada é preditor forte de Appliances.</a:t>
            </a:r>
          </a:p>
          <a:p>
            <a:pPr>
              <a:spcAft>
                <a:spcPts val="0"/>
              </a:spcAft>
              <a:defRPr sz="1320" b="0">
                <a:solidFill>
                  <a:srgbClr val="162038"/>
                </a:solidFill>
                <a:latin typeface="Aptos"/>
              </a:defRPr>
            </a:pPr>
            <a:r>
              <a:t>• Fatores comportamentais humanos não aparecem nas features.</a:t>
            </a:r>
          </a:p>
          <a:p>
            <a:pPr>
              <a:spcAft>
                <a:spcPts val="0"/>
              </a:spcAft>
              <a:defRPr sz="1320" b="0">
                <a:solidFill>
                  <a:srgbClr val="162038"/>
                </a:solidFill>
                <a:latin typeface="Aptos"/>
              </a:defRPr>
            </a:pPr>
            <a:r>
              <a:t>• Ridge/Lasso não trouxeram ganhos significativos sobre o baseline linear.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4924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31089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00C582"/>
                </a:solidFill>
                <a:latin typeface="Aptos Display"/>
              </a:defRPr>
            </a:pPr>
            <a:r>
              <a:t>Evoluções sugeridas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26974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Testar Random Forest, XGBoost, LightGBM e Redes Neurais.</a:t>
            </a:r>
          </a:p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Criar atributos temporais: hora, dia da semana e mês.</a:t>
            </a:r>
          </a:p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Investigar e tratar outliers de alto consumo.</a:t>
            </a:r>
          </a:p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Aplicar SHAP/permutation importance para seleção de features.</a:t>
            </a:r>
          </a:p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Testar transformação logarítmica da variável-alvo.</a:t>
            </a:r>
          </a:p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Explorar séries temporais: ARIMA ou LSTM.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FFFFFF"/>
                </a:solidFill>
                <a:latin typeface="Aptos Display"/>
              </a:defRPr>
            </a:pPr>
            <a:r>
              <a:t>Síntese Final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CDDAF5"/>
                </a:solidFill>
                <a:latin typeface="Aptos"/>
              </a:defRPr>
            </a:pPr>
            <a:r>
              <a:t>O que foi aprendido com os dois modelos.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FECHAMENTO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166360" cy="4160520"/>
          </a:xfrm>
          <a:prstGeom prst="roundRect">
            <a:avLst/>
          </a:prstGeom>
          <a:solidFill>
            <a:srgbClr val="122A5B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166360" cy="4160520"/>
          </a:xfrm>
          <a:prstGeom prst="roundRect">
            <a:avLst/>
          </a:prstGeom>
          <a:solidFill>
            <a:srgbClr val="122A5B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55648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00C2FF"/>
                </a:solidFill>
                <a:latin typeface="Aptos Display"/>
              </a:defRPr>
            </a:pPr>
            <a:r>
              <a:t>Classificação com KNN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331720"/>
            <a:ext cx="1737360" cy="822960"/>
          </a:xfrm>
          <a:prstGeom prst="roundRect">
            <a:avLst/>
          </a:prstGeom>
          <a:solidFill>
            <a:srgbClr val="E6F8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1" y="2496312"/>
            <a:ext cx="14996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2FF"/>
                </a:solidFill>
                <a:latin typeface="Aptos Display"/>
              </a:defRPr>
            </a:pPr>
            <a:r>
              <a:t>89,39%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971800"/>
            <a:ext cx="1463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acurácia final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2331720"/>
            <a:ext cx="1737360" cy="822960"/>
          </a:xfrm>
          <a:prstGeom prst="roundRect">
            <a:avLst/>
          </a:prstGeom>
          <a:solidFill>
            <a:srgbClr val="E5FFF4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2496312"/>
            <a:ext cx="14996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582"/>
                </a:solidFill>
                <a:latin typeface="Aptos Display"/>
              </a:defRPr>
            </a:pPr>
            <a:r>
              <a:t>k=18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71800"/>
            <a:ext cx="1463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melhor parâmetro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4389120" cy="11430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Melhor normalização: Log.</a:t>
            </a:r>
          </a:p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Bom desempenho geral, mas recall da classe positiva precisa melhorar.</a:t>
            </a:r>
          </a:p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Desbalanceamento foi o maior desafio.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755648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DAC8FF"/>
                </a:solidFill>
                <a:latin typeface="Aptos Display"/>
              </a:defRPr>
            </a:pPr>
            <a:r>
              <a:t>Regressão Supervisionada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331720"/>
            <a:ext cx="1737360" cy="822960"/>
          </a:xfrm>
          <a:prstGeom prst="roundRect">
            <a:avLst/>
          </a:prstGeom>
          <a:solidFill>
            <a:srgbClr val="F0EB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2496312"/>
            <a:ext cx="14996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814FFF"/>
                </a:solidFill>
                <a:latin typeface="Aptos Display"/>
              </a:defRPr>
            </a:pPr>
            <a:r>
              <a:t>R²≈0,15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71800"/>
            <a:ext cx="1463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Linear/Ridge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2331720"/>
            <a:ext cx="1737360" cy="822960"/>
          </a:xfrm>
          <a:prstGeom prst="roundRect">
            <a:avLst/>
          </a:prstGeom>
          <a:solidFill>
            <a:srgbClr val="FFEBEB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2496312"/>
            <a:ext cx="14996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EB4B4B"/>
                </a:solidFill>
                <a:latin typeface="Aptos Display"/>
              </a:defRPr>
            </a:pPr>
            <a:r>
              <a:t>R²=0,049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971800"/>
            <a:ext cx="1463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regressão simples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4389120" cy="11430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Modelos lineares funcionam como baseline interpretável.</a:t>
            </a:r>
          </a:p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Consumo energético exige modelos não-lineares e engenharia de atributos.</a:t>
            </a:r>
          </a:p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Correlação fraca reforça a natureza multivariada do problema.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5779008"/>
            <a:ext cx="7909560" cy="502920"/>
          </a:xfrm>
          <a:prstGeom prst="roundRect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5971032"/>
            <a:ext cx="7543800" cy="10972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040" b="1" i="0">
                <a:solidFill>
                  <a:srgbClr val="FFFFFF"/>
                </a:solidFill>
                <a:latin typeface="Aptos"/>
              </a:defRPr>
            </a:pPr>
            <a:r>
              <a:t>Mensagem final: pré-processamento, validação e interpretação dos resultados são tão importantes quanto o algoritmo escolhido.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B9C6DE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B9C6D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73152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011680"/>
            <a:ext cx="66751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ptos Display"/>
              </a:defRPr>
            </a:pPr>
            <a: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06324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0" i="0">
                <a:solidFill>
                  <a:srgbClr val="CDDCFF"/>
                </a:solidFill>
                <a:latin typeface="Aptos"/>
              </a:defRPr>
            </a:pPr>
            <a:r>
              <a:t>Perguntas?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251960"/>
            <a:ext cx="7406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0C2FF"/>
                </a:solidFill>
                <a:latin typeface="Aptos"/>
              </a:defRPr>
            </a:pPr>
            <a:r>
              <a:t>Kauê Cruz Gomes • Abimael Gomes Mesquita Filho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754880"/>
            <a:ext cx="83210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180" b="0" i="0">
                <a:solidFill>
                  <a:srgbClr val="BECFF0"/>
                </a:solidFill>
                <a:latin typeface="Aptos"/>
              </a:defRPr>
            </a:pPr>
            <a:r>
              <a:t>Projeto de Inteligência Artificial — Classificação com KNN e Regressão Linear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1005840"/>
            <a:ext cx="640080" cy="640080"/>
          </a:xfrm>
          <a:prstGeom prst="ellipse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7360" y="1691640"/>
            <a:ext cx="320040" cy="320040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9840" y="4846320"/>
            <a:ext cx="548640" cy="548640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0" y="4343400"/>
            <a:ext cx="320040" cy="320040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B9C6DE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B9C6D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