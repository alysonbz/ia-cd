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League Spartan" charset="1" panose="00000800000000000000"/>
      <p:regular r:id="rId37"/>
    </p:embeddedFont>
    <p:embeddedFont>
      <p:font typeface="Roboto Bold" charset="1" panose="02000000000000000000"/>
      <p:regular r:id="rId38"/>
    </p:embeddedFont>
    <p:embeddedFont>
      <p:font typeface="Poppins" charset="1" panose="00000500000000000000"/>
      <p:regular r:id="rId39"/>
    </p:embeddedFont>
    <p:embeddedFont>
      <p:font typeface="Open Sans" charset="1" panose="020B0606030504020204"/>
      <p:regular r:id="rId40"/>
    </p:embeddedFont>
    <p:embeddedFont>
      <p:font typeface="Roboto" charset="1" panose="02000000000000000000"/>
      <p:regular r:id="rId41"/>
    </p:embeddedFont>
    <p:embeddedFont>
      <p:font typeface="Archivo Black" charset="1" panose="020B0A03020202020B04"/>
      <p:regular r:id="rId42"/>
    </p:embeddedFont>
    <p:embeddedFont>
      <p:font typeface="Open Sans Bold" charset="1" panose="020B08060305040202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0957" y="2257827"/>
            <a:ext cx="9846085" cy="288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INTELIGÊNCIA ARTIFICIAL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89136" y="5818797"/>
            <a:ext cx="12244870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APRENDIZADO NÃO SUPERVISIONADO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80587" y="7838053"/>
            <a:ext cx="8526827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Marcos Matias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Kelsey Ricardo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40136" y="1028700"/>
            <a:ext cx="19168271" cy="9704035"/>
            <a:chOff x="0" y="0"/>
            <a:chExt cx="5048434" cy="25557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48434" cy="2555795"/>
            </a:xfrm>
            <a:custGeom>
              <a:avLst/>
              <a:gdLst/>
              <a:ahLst/>
              <a:cxnLst/>
              <a:rect r="r" b="b" t="t" l="l"/>
              <a:pathLst>
                <a:path h="2555795" w="5048434">
                  <a:moveTo>
                    <a:pt x="20599" y="0"/>
                  </a:moveTo>
                  <a:lnTo>
                    <a:pt x="5027835" y="0"/>
                  </a:lnTo>
                  <a:cubicBezTo>
                    <a:pt x="5039211" y="0"/>
                    <a:pt x="5048434" y="9222"/>
                    <a:pt x="5048434" y="20599"/>
                  </a:cubicBezTo>
                  <a:lnTo>
                    <a:pt x="5048434" y="2535197"/>
                  </a:lnTo>
                  <a:cubicBezTo>
                    <a:pt x="5048434" y="2540660"/>
                    <a:pt x="5046264" y="2545899"/>
                    <a:pt x="5042400" y="2549762"/>
                  </a:cubicBezTo>
                  <a:cubicBezTo>
                    <a:pt x="5038537" y="2553625"/>
                    <a:pt x="5033298" y="2555795"/>
                    <a:pt x="5027835" y="2555795"/>
                  </a:cubicBezTo>
                  <a:lnTo>
                    <a:pt x="20599" y="2555795"/>
                  </a:lnTo>
                  <a:cubicBezTo>
                    <a:pt x="15135" y="2555795"/>
                    <a:pt x="9896" y="2553625"/>
                    <a:pt x="6033" y="2549762"/>
                  </a:cubicBezTo>
                  <a:cubicBezTo>
                    <a:pt x="2170" y="2545899"/>
                    <a:pt x="0" y="2540660"/>
                    <a:pt x="0" y="2535197"/>
                  </a:cubicBezTo>
                  <a:lnTo>
                    <a:pt x="0" y="20599"/>
                  </a:lnTo>
                  <a:cubicBezTo>
                    <a:pt x="0" y="15135"/>
                    <a:pt x="2170" y="9896"/>
                    <a:pt x="6033" y="6033"/>
                  </a:cubicBezTo>
                  <a:cubicBezTo>
                    <a:pt x="9896" y="2170"/>
                    <a:pt x="15135" y="0"/>
                    <a:pt x="205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048434" cy="2603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0953" y="37"/>
            <a:ext cx="5403922" cy="9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2"/>
              </a:lnSpc>
            </a:pPr>
            <a:r>
              <a:rPr lang="en-US" b="true" sz="525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SUMÁRIO: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15180" y="1293115"/>
            <a:ext cx="1120747" cy="112074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6063" y="1322938"/>
            <a:ext cx="1273147" cy="10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7"/>
              </a:lnSpc>
            </a:pPr>
            <a:r>
              <a:rPr lang="en-US" sz="61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15180" y="2737712"/>
            <a:ext cx="1120747" cy="11207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4306" y="4248985"/>
            <a:ext cx="1198369" cy="119836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5180" y="5771204"/>
            <a:ext cx="1120747" cy="112074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15180" y="7218119"/>
            <a:ext cx="1120747" cy="112074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15180" y="8624616"/>
            <a:ext cx="1120747" cy="112074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-928841" y="5441395"/>
            <a:ext cx="1273147" cy="10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7"/>
              </a:lnSpc>
            </a:pPr>
            <a:r>
              <a:rPr lang="en-US" sz="61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8980" y="5848652"/>
            <a:ext cx="1273147" cy="10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7"/>
              </a:lnSpc>
            </a:pPr>
            <a:r>
              <a:rPr lang="en-US" sz="61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8980" y="7295567"/>
            <a:ext cx="1273147" cy="10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7"/>
              </a:lnSpc>
            </a:pPr>
            <a:r>
              <a:rPr lang="en-US" sz="61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8980" y="8702064"/>
            <a:ext cx="1273147" cy="10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7"/>
              </a:lnSpc>
            </a:pPr>
            <a:r>
              <a:rPr lang="en-US" sz="61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8980" y="2815160"/>
            <a:ext cx="1273147" cy="10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7"/>
              </a:lnSpc>
            </a:pPr>
            <a:r>
              <a:rPr lang="en-US" sz="61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75698" y="1460713"/>
            <a:ext cx="675481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nálise Exploratória dos Dados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89937" y="2974554"/>
            <a:ext cx="6829876" cy="587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7"/>
              </a:lnSpc>
            </a:pPr>
            <a:r>
              <a:rPr lang="en-US" sz="34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Análise Visual com Dois Atributos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75698" y="4498379"/>
            <a:ext cx="1020659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Clusterização com K-Means e Escolha do Melhor 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75698" y="5957736"/>
            <a:ext cx="78298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Comparação entre K-Means e DBSCAN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75698" y="7414426"/>
            <a:ext cx="85178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Clusterização Hierárquica e Dendrograma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75698" y="8759214"/>
            <a:ext cx="1582778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Redução de Dimensionalidade com PCA e Comparar em Classificação sem PCA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9528" y="4325185"/>
            <a:ext cx="1273147" cy="10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7"/>
              </a:lnSpc>
            </a:pPr>
            <a:r>
              <a:rPr lang="en-US" sz="61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0300" y="4000600"/>
            <a:ext cx="3086100" cy="2171499"/>
            <a:chOff x="0" y="0"/>
            <a:chExt cx="812800" cy="571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39746" y="4572678"/>
            <a:ext cx="13608508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ANÁLISE EXPLORATÓRIA DOS DADOS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563036" y="4000600"/>
            <a:ext cx="3086100" cy="2171499"/>
            <a:chOff x="0" y="0"/>
            <a:chExt cx="812800" cy="5719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666" y="0"/>
            <a:ext cx="6290315" cy="10287000"/>
            <a:chOff x="0" y="0"/>
            <a:chExt cx="165670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670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56708">
                  <a:moveTo>
                    <a:pt x="0" y="0"/>
                  </a:moveTo>
                  <a:lnTo>
                    <a:pt x="1656708" y="0"/>
                  </a:lnTo>
                  <a:lnTo>
                    <a:pt x="16567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5670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290315" y="258863"/>
            <a:ext cx="12149001" cy="2254429"/>
          </a:xfrm>
          <a:custGeom>
            <a:avLst/>
            <a:gdLst/>
            <a:ahLst/>
            <a:cxnLst/>
            <a:rect r="r" b="b" t="t" l="l"/>
            <a:pathLst>
              <a:path h="2254429" w="12149001">
                <a:moveTo>
                  <a:pt x="0" y="0"/>
                </a:moveTo>
                <a:lnTo>
                  <a:pt x="12149000" y="0"/>
                </a:lnTo>
                <a:lnTo>
                  <a:pt x="12149000" y="2254429"/>
                </a:lnTo>
                <a:lnTo>
                  <a:pt x="0" y="2254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75" t="-5268" r="0" b="-526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90315" y="4993451"/>
            <a:ext cx="12149001" cy="3824462"/>
          </a:xfrm>
          <a:custGeom>
            <a:avLst/>
            <a:gdLst/>
            <a:ahLst/>
            <a:cxnLst/>
            <a:rect r="r" b="b" t="t" l="l"/>
            <a:pathLst>
              <a:path h="3824462" w="12149001">
                <a:moveTo>
                  <a:pt x="0" y="0"/>
                </a:moveTo>
                <a:lnTo>
                  <a:pt x="12149000" y="0"/>
                </a:lnTo>
                <a:lnTo>
                  <a:pt x="12149000" y="3824462"/>
                </a:lnTo>
                <a:lnTo>
                  <a:pt x="0" y="3824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5505" y="173138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5505" y="942975"/>
            <a:ext cx="5105243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GAS SENSOR CONCENTRATIONS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1205" y="2910245"/>
            <a:ext cx="5634574" cy="260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dataset carregado possui 13.910 amostras e 128 atributos numéricos (features extraídas dos 16 sensores químicos), além das colunas auxiliares de concentração e batch (período de coleta).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65505" y="5456570"/>
            <a:ext cx="5634574" cy="371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 features do dataset representam características extraídas das respostas de 16 sensores químicos quando expostos a diferentes gases. Cada sensor fornece oito medidas relacionadas à intensidade e ao comportamento temporal do sinal, totalizando 128 variáveis utilizadas para caracterizar cada amostra e auxiliar na identificação do gás presente.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666" y="0"/>
            <a:ext cx="6290315" cy="10287000"/>
            <a:chOff x="0" y="0"/>
            <a:chExt cx="165670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670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56708">
                  <a:moveTo>
                    <a:pt x="0" y="0"/>
                  </a:moveTo>
                  <a:lnTo>
                    <a:pt x="1656708" y="0"/>
                  </a:lnTo>
                  <a:lnTo>
                    <a:pt x="16567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5670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263649" y="1377007"/>
            <a:ext cx="12024351" cy="6738284"/>
          </a:xfrm>
          <a:custGeom>
            <a:avLst/>
            <a:gdLst/>
            <a:ahLst/>
            <a:cxnLst/>
            <a:rect r="r" b="b" t="t" l="l"/>
            <a:pathLst>
              <a:path h="6738284" w="12024351">
                <a:moveTo>
                  <a:pt x="0" y="0"/>
                </a:moveTo>
                <a:lnTo>
                  <a:pt x="12024351" y="0"/>
                </a:lnTo>
                <a:lnTo>
                  <a:pt x="12024351" y="6738284"/>
                </a:lnTo>
                <a:lnTo>
                  <a:pt x="0" y="6738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5505" y="173138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5505" y="942975"/>
            <a:ext cx="5105243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GAS SENSOR CONCENTRATIONS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1205" y="2705103"/>
            <a:ext cx="5698874" cy="4810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dataset está dividido em 10 batches, que correspondem a conjuntos de amostras coletadas em diferentes períodos ao longo de aproximadamente 36 meses. Essa divisão foi realizada para permitir o estudo do fenômeno de deriva dos sensores (sensor drift), no qual as respostas dos sensores químicos sofrem alterações ao longo do tempo devido ao envelhecimento e às condições de operação.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1205" y="7705722"/>
            <a:ext cx="5698874" cy="40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dataset não possui valores ausentes.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0300" y="4000600"/>
            <a:ext cx="3086100" cy="2171499"/>
            <a:chOff x="0" y="0"/>
            <a:chExt cx="812800" cy="571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39746" y="4572678"/>
            <a:ext cx="13608508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ANÁLISE VISUAL COM DOIS ATRIBUTOS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563036" y="4000600"/>
            <a:ext cx="3086100" cy="2171499"/>
            <a:chOff x="0" y="0"/>
            <a:chExt cx="812800" cy="5719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021" y="-8153001"/>
            <a:ext cx="19133596" cy="10287000"/>
            <a:chOff x="0" y="0"/>
            <a:chExt cx="50393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3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5039301">
                  <a:moveTo>
                    <a:pt x="0" y="0"/>
                  </a:moveTo>
                  <a:lnTo>
                    <a:pt x="5039301" y="0"/>
                  </a:lnTo>
                  <a:lnTo>
                    <a:pt x="50393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039301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58402" y="2588545"/>
            <a:ext cx="15100495" cy="7392951"/>
          </a:xfrm>
          <a:custGeom>
            <a:avLst/>
            <a:gdLst/>
            <a:ahLst/>
            <a:cxnLst/>
            <a:rect r="r" b="b" t="t" l="l"/>
            <a:pathLst>
              <a:path h="7392951" w="15100495">
                <a:moveTo>
                  <a:pt x="0" y="0"/>
                </a:moveTo>
                <a:lnTo>
                  <a:pt x="15100495" y="0"/>
                </a:lnTo>
                <a:lnTo>
                  <a:pt x="15100495" y="7392950"/>
                </a:lnTo>
                <a:lnTo>
                  <a:pt x="0" y="739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6681" y="200679"/>
            <a:ext cx="6239446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ANÁLISE VISUAL COM DOIS ATRIBUTOS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979524" y="2588545"/>
            <a:ext cx="4839415" cy="7392951"/>
            <a:chOff x="0" y="0"/>
            <a:chExt cx="1274579" cy="1947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4578" cy="1947115"/>
            </a:xfrm>
            <a:custGeom>
              <a:avLst/>
              <a:gdLst/>
              <a:ahLst/>
              <a:cxnLst/>
              <a:rect r="r" b="b" t="t" l="l"/>
              <a:pathLst>
                <a:path h="1947115" w="1274578">
                  <a:moveTo>
                    <a:pt x="31995" y="0"/>
                  </a:moveTo>
                  <a:lnTo>
                    <a:pt x="1242583" y="0"/>
                  </a:lnTo>
                  <a:cubicBezTo>
                    <a:pt x="1260254" y="0"/>
                    <a:pt x="1274578" y="14325"/>
                    <a:pt x="1274578" y="31995"/>
                  </a:cubicBezTo>
                  <a:lnTo>
                    <a:pt x="1274578" y="1915119"/>
                  </a:lnTo>
                  <a:cubicBezTo>
                    <a:pt x="1274578" y="1932790"/>
                    <a:pt x="1260254" y="1947115"/>
                    <a:pt x="1242583" y="1947115"/>
                  </a:cubicBezTo>
                  <a:lnTo>
                    <a:pt x="31995" y="1947115"/>
                  </a:lnTo>
                  <a:cubicBezTo>
                    <a:pt x="14325" y="1947115"/>
                    <a:pt x="0" y="1932790"/>
                    <a:pt x="0" y="1915119"/>
                  </a:cubicBezTo>
                  <a:lnTo>
                    <a:pt x="0" y="31995"/>
                  </a:lnTo>
                  <a:cubicBezTo>
                    <a:pt x="0" y="14325"/>
                    <a:pt x="14325" y="0"/>
                    <a:pt x="31995" y="0"/>
                  </a:cubicBezTo>
                  <a:close/>
                </a:path>
              </a:pathLst>
            </a:custGeom>
            <a:solidFill>
              <a:srgbClr val="B3C1E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74579" cy="1994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376518" y="2761087"/>
            <a:ext cx="4045426" cy="700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</a:t>
            </a: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feature          Fisher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8      feature_9  3415.946684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64    feature_65  2702.009691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10    feature_11  2598.253410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11    feature_12  2320.797363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66    feature_67  2199.617149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13    feature_14  2187.692262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67    feature_68  1991.435734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72    feature_73  1968.918922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68    feature_69  1929.125257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0      feature_1  1878.967258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69    feature_70  1789.970149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74    feature_75  1644.497304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99   feature_100  1600.459912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      feature_3  1590.802272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83    feature_84  1581.083742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115  feature_116  1555.444542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14    feature_15  1537.033328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76    feature_77  1534.688122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3      feature_4  1520.716258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12    feature_13  1507.315012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021" y="-8153001"/>
            <a:ext cx="19133596" cy="10287000"/>
            <a:chOff x="0" y="0"/>
            <a:chExt cx="50393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3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5039301">
                  <a:moveTo>
                    <a:pt x="0" y="0"/>
                  </a:moveTo>
                  <a:lnTo>
                    <a:pt x="5039301" y="0"/>
                  </a:lnTo>
                  <a:lnTo>
                    <a:pt x="50393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039301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58402" y="2588545"/>
            <a:ext cx="15100495" cy="7392951"/>
          </a:xfrm>
          <a:custGeom>
            <a:avLst/>
            <a:gdLst/>
            <a:ahLst/>
            <a:cxnLst/>
            <a:rect r="r" b="b" t="t" l="l"/>
            <a:pathLst>
              <a:path h="7392951" w="15100495">
                <a:moveTo>
                  <a:pt x="0" y="0"/>
                </a:moveTo>
                <a:lnTo>
                  <a:pt x="15100495" y="0"/>
                </a:lnTo>
                <a:lnTo>
                  <a:pt x="15100495" y="7392950"/>
                </a:lnTo>
                <a:lnTo>
                  <a:pt x="0" y="739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6681" y="200679"/>
            <a:ext cx="6239446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ANÁLISE VISUAL COM DOIS ATRIBUTOS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979524" y="2588545"/>
            <a:ext cx="4839415" cy="7392951"/>
            <a:chOff x="0" y="0"/>
            <a:chExt cx="1274579" cy="1947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4578" cy="1947115"/>
            </a:xfrm>
            <a:custGeom>
              <a:avLst/>
              <a:gdLst/>
              <a:ahLst/>
              <a:cxnLst/>
              <a:rect r="r" b="b" t="t" l="l"/>
              <a:pathLst>
                <a:path h="1947115" w="1274578">
                  <a:moveTo>
                    <a:pt x="31995" y="0"/>
                  </a:moveTo>
                  <a:lnTo>
                    <a:pt x="1242583" y="0"/>
                  </a:lnTo>
                  <a:cubicBezTo>
                    <a:pt x="1260254" y="0"/>
                    <a:pt x="1274578" y="14325"/>
                    <a:pt x="1274578" y="31995"/>
                  </a:cubicBezTo>
                  <a:lnTo>
                    <a:pt x="1274578" y="1915119"/>
                  </a:lnTo>
                  <a:cubicBezTo>
                    <a:pt x="1274578" y="1932790"/>
                    <a:pt x="1260254" y="1947115"/>
                    <a:pt x="1242583" y="1947115"/>
                  </a:cubicBezTo>
                  <a:lnTo>
                    <a:pt x="31995" y="1947115"/>
                  </a:lnTo>
                  <a:cubicBezTo>
                    <a:pt x="14325" y="1947115"/>
                    <a:pt x="0" y="1932790"/>
                    <a:pt x="0" y="1915119"/>
                  </a:cubicBezTo>
                  <a:lnTo>
                    <a:pt x="0" y="31995"/>
                  </a:lnTo>
                  <a:cubicBezTo>
                    <a:pt x="0" y="14325"/>
                    <a:pt x="14325" y="0"/>
                    <a:pt x="31995" y="0"/>
                  </a:cubicBezTo>
                  <a:close/>
                </a:path>
              </a:pathLst>
            </a:custGeom>
            <a:solidFill>
              <a:srgbClr val="B3C1E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74579" cy="1994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376518" y="2761087"/>
            <a:ext cx="4045426" cy="700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</a:t>
            </a: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feature          Fisher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C43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8      feature_9  3415.946684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64    feature_65  2702.009691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10    feature_11  2598.253410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11    feature_12  2320.797363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66    feature_67  2199.617149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13    feature_14  2187.692262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67    feature_68  1991.435734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72    feature_73  1968.918922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68    feature_69  1929.125257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0      feature_1  1878.967258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69    feature_70  1789.970149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74    feature_75  1644.497304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C43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99   feature_100  1600.459912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      feature_3  1590.802272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83    feature_84  1581.083742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115  feature_116  1555.444542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14    feature_15  1537.033328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76    feature_77  1534.688122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3      feature_4  1520.716258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12    feature_13  1507.315012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021" y="-8153001"/>
            <a:ext cx="19402376" cy="10287000"/>
            <a:chOff x="0" y="0"/>
            <a:chExt cx="511009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0091" cy="2709333"/>
            </a:xfrm>
            <a:custGeom>
              <a:avLst/>
              <a:gdLst/>
              <a:ahLst/>
              <a:cxnLst/>
              <a:rect r="r" b="b" t="t" l="l"/>
              <a:pathLst>
                <a:path h="2709333" w="5110091">
                  <a:moveTo>
                    <a:pt x="0" y="0"/>
                  </a:moveTo>
                  <a:lnTo>
                    <a:pt x="5110091" y="0"/>
                  </a:lnTo>
                  <a:lnTo>
                    <a:pt x="511009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110091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804151" y="2133999"/>
            <a:ext cx="10679697" cy="8153001"/>
          </a:xfrm>
          <a:custGeom>
            <a:avLst/>
            <a:gdLst/>
            <a:ahLst/>
            <a:cxnLst/>
            <a:rect r="r" b="b" t="t" l="l"/>
            <a:pathLst>
              <a:path h="8153001" w="10679697">
                <a:moveTo>
                  <a:pt x="0" y="0"/>
                </a:moveTo>
                <a:lnTo>
                  <a:pt x="10679698" y="0"/>
                </a:lnTo>
                <a:lnTo>
                  <a:pt x="10679698" y="8153001"/>
                </a:lnTo>
                <a:lnTo>
                  <a:pt x="0" y="815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6681" y="200679"/>
            <a:ext cx="6239446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ANÁLISE VISUAL COM DOIS ATRIBUTOS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0300" y="4000600"/>
            <a:ext cx="3086100" cy="2171499"/>
            <a:chOff x="0" y="0"/>
            <a:chExt cx="812800" cy="571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39746" y="4163103"/>
            <a:ext cx="13608508" cy="184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CLUSTERIZAÇÃO COM K-MEANS E ESCOLHA DO MELHOR 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563036" y="4000600"/>
            <a:ext cx="3086100" cy="2171499"/>
            <a:chOff x="0" y="0"/>
            <a:chExt cx="812800" cy="5719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1735083"/>
            <a:ext cx="18723819" cy="4042974"/>
            <a:chOff x="0" y="0"/>
            <a:chExt cx="4931376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1376" cy="1064816"/>
            </a:xfrm>
            <a:custGeom>
              <a:avLst/>
              <a:gdLst/>
              <a:ahLst/>
              <a:cxnLst/>
              <a:rect r="r" b="b" t="t" l="l"/>
              <a:pathLst>
                <a:path h="1064816" w="4931376">
                  <a:moveTo>
                    <a:pt x="0" y="0"/>
                  </a:moveTo>
                  <a:lnTo>
                    <a:pt x="4931376" y="0"/>
                  </a:lnTo>
                  <a:lnTo>
                    <a:pt x="4931376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1376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64217" y="3402360"/>
            <a:ext cx="15123783" cy="5305359"/>
          </a:xfrm>
          <a:custGeom>
            <a:avLst/>
            <a:gdLst/>
            <a:ahLst/>
            <a:cxnLst/>
            <a:rect r="r" b="b" t="t" l="l"/>
            <a:pathLst>
              <a:path h="5305359" w="15123783">
                <a:moveTo>
                  <a:pt x="0" y="0"/>
                </a:moveTo>
                <a:lnTo>
                  <a:pt x="15123783" y="0"/>
                </a:lnTo>
                <a:lnTo>
                  <a:pt x="15123783" y="5305359"/>
                </a:lnTo>
                <a:lnTo>
                  <a:pt x="0" y="53053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4" r="0" b="-90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CLUSTERIZAÇÃO COM K-MEANS E ESCOLHA DO MELHOR 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0632" y="600729"/>
            <a:ext cx="7377362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NORMALIZAÇÃO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1735083"/>
            <a:ext cx="18723819" cy="4042974"/>
            <a:chOff x="0" y="0"/>
            <a:chExt cx="4931376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1376" cy="1064816"/>
            </a:xfrm>
            <a:custGeom>
              <a:avLst/>
              <a:gdLst/>
              <a:ahLst/>
              <a:cxnLst/>
              <a:rect r="r" b="b" t="t" l="l"/>
              <a:pathLst>
                <a:path h="1064816" w="4931376">
                  <a:moveTo>
                    <a:pt x="0" y="0"/>
                  </a:moveTo>
                  <a:lnTo>
                    <a:pt x="4931376" y="0"/>
                  </a:lnTo>
                  <a:lnTo>
                    <a:pt x="4931376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1376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26221" y="3713887"/>
            <a:ext cx="15524357" cy="5544413"/>
          </a:xfrm>
          <a:custGeom>
            <a:avLst/>
            <a:gdLst/>
            <a:ahLst/>
            <a:cxnLst/>
            <a:rect r="r" b="b" t="t" l="l"/>
            <a:pathLst>
              <a:path h="5544413" w="15524357">
                <a:moveTo>
                  <a:pt x="0" y="0"/>
                </a:moveTo>
                <a:lnTo>
                  <a:pt x="15524357" y="0"/>
                </a:lnTo>
                <a:lnTo>
                  <a:pt x="15524357" y="5544413"/>
                </a:lnTo>
                <a:lnTo>
                  <a:pt x="0" y="5544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CLUSTERIZAÇÃO COM K-MEANS E ESCOLHA DO MELHOR 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5822" y="600729"/>
            <a:ext cx="7382173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NORMALIZAÇÃO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1735083"/>
            <a:ext cx="18723819" cy="4042974"/>
            <a:chOff x="0" y="0"/>
            <a:chExt cx="4931376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1376" cy="1064816"/>
            </a:xfrm>
            <a:custGeom>
              <a:avLst/>
              <a:gdLst/>
              <a:ahLst/>
              <a:cxnLst/>
              <a:rect r="r" b="b" t="t" l="l"/>
              <a:pathLst>
                <a:path h="1064816" w="4931376">
                  <a:moveTo>
                    <a:pt x="0" y="0"/>
                  </a:moveTo>
                  <a:lnTo>
                    <a:pt x="4931376" y="0"/>
                  </a:lnTo>
                  <a:lnTo>
                    <a:pt x="4931376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1376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32996" y="3402360"/>
            <a:ext cx="14855004" cy="5305359"/>
          </a:xfrm>
          <a:custGeom>
            <a:avLst/>
            <a:gdLst/>
            <a:ahLst/>
            <a:cxnLst/>
            <a:rect r="r" b="b" t="t" l="l"/>
            <a:pathLst>
              <a:path h="5305359" w="14855004">
                <a:moveTo>
                  <a:pt x="0" y="0"/>
                </a:moveTo>
                <a:lnTo>
                  <a:pt x="14855004" y="0"/>
                </a:lnTo>
                <a:lnTo>
                  <a:pt x="14855004" y="5305359"/>
                </a:lnTo>
                <a:lnTo>
                  <a:pt x="0" y="53053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32996" y="3402360"/>
            <a:ext cx="14855004" cy="5305359"/>
          </a:xfrm>
          <a:custGeom>
            <a:avLst/>
            <a:gdLst/>
            <a:ahLst/>
            <a:cxnLst/>
            <a:rect r="r" b="b" t="t" l="l"/>
            <a:pathLst>
              <a:path h="5305359" w="14855004">
                <a:moveTo>
                  <a:pt x="0" y="0"/>
                </a:moveTo>
                <a:lnTo>
                  <a:pt x="14855004" y="0"/>
                </a:lnTo>
                <a:lnTo>
                  <a:pt x="14855004" y="5305359"/>
                </a:lnTo>
                <a:lnTo>
                  <a:pt x="0" y="5305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CLUSTERIZAÇÃO COM K-MEANS E ESCOLHA DO MELHOR 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60498" y="600729"/>
            <a:ext cx="7047496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STANDARD SCALER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1735083"/>
            <a:ext cx="18723819" cy="4042974"/>
            <a:chOff x="0" y="0"/>
            <a:chExt cx="4931376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1376" cy="1064816"/>
            </a:xfrm>
            <a:custGeom>
              <a:avLst/>
              <a:gdLst/>
              <a:ahLst/>
              <a:cxnLst/>
              <a:rect r="r" b="b" t="t" l="l"/>
              <a:pathLst>
                <a:path h="1064816" w="4931376">
                  <a:moveTo>
                    <a:pt x="0" y="0"/>
                  </a:moveTo>
                  <a:lnTo>
                    <a:pt x="4931376" y="0"/>
                  </a:lnTo>
                  <a:lnTo>
                    <a:pt x="4931376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1376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63643" y="3426795"/>
            <a:ext cx="15524357" cy="5544413"/>
          </a:xfrm>
          <a:custGeom>
            <a:avLst/>
            <a:gdLst/>
            <a:ahLst/>
            <a:cxnLst/>
            <a:rect r="r" b="b" t="t" l="l"/>
            <a:pathLst>
              <a:path h="5544413" w="15524357">
                <a:moveTo>
                  <a:pt x="0" y="0"/>
                </a:moveTo>
                <a:lnTo>
                  <a:pt x="15524357" y="0"/>
                </a:lnTo>
                <a:lnTo>
                  <a:pt x="15524357" y="5544413"/>
                </a:lnTo>
                <a:lnTo>
                  <a:pt x="0" y="5544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63643" y="3426795"/>
            <a:ext cx="15524357" cy="5544413"/>
          </a:xfrm>
          <a:custGeom>
            <a:avLst/>
            <a:gdLst/>
            <a:ahLst/>
            <a:cxnLst/>
            <a:rect r="r" b="b" t="t" l="l"/>
            <a:pathLst>
              <a:path h="5544413" w="15524357">
                <a:moveTo>
                  <a:pt x="0" y="0"/>
                </a:moveTo>
                <a:lnTo>
                  <a:pt x="15524357" y="0"/>
                </a:lnTo>
                <a:lnTo>
                  <a:pt x="15524357" y="5544413"/>
                </a:lnTo>
                <a:lnTo>
                  <a:pt x="0" y="5544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CLUSTERIZAÇÃO COM K-MEANS E ESCOLHA DO MELHOR 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60498" y="600729"/>
            <a:ext cx="7047496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STANDARD SCALER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1735083"/>
            <a:ext cx="18723819" cy="4042974"/>
            <a:chOff x="0" y="0"/>
            <a:chExt cx="4931376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1376" cy="1064816"/>
            </a:xfrm>
            <a:custGeom>
              <a:avLst/>
              <a:gdLst/>
              <a:ahLst/>
              <a:cxnLst/>
              <a:rect r="r" b="b" t="t" l="l"/>
              <a:pathLst>
                <a:path h="1064816" w="4931376">
                  <a:moveTo>
                    <a:pt x="0" y="0"/>
                  </a:moveTo>
                  <a:lnTo>
                    <a:pt x="4931376" y="0"/>
                  </a:lnTo>
                  <a:lnTo>
                    <a:pt x="4931376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1376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32996" y="3402360"/>
            <a:ext cx="14855004" cy="5305359"/>
          </a:xfrm>
          <a:custGeom>
            <a:avLst/>
            <a:gdLst/>
            <a:ahLst/>
            <a:cxnLst/>
            <a:rect r="r" b="b" t="t" l="l"/>
            <a:pathLst>
              <a:path h="5305359" w="14855004">
                <a:moveTo>
                  <a:pt x="0" y="0"/>
                </a:moveTo>
                <a:lnTo>
                  <a:pt x="14855004" y="0"/>
                </a:lnTo>
                <a:lnTo>
                  <a:pt x="14855004" y="5305359"/>
                </a:lnTo>
                <a:lnTo>
                  <a:pt x="0" y="53053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32996" y="3402360"/>
            <a:ext cx="14855004" cy="5305359"/>
          </a:xfrm>
          <a:custGeom>
            <a:avLst/>
            <a:gdLst/>
            <a:ahLst/>
            <a:cxnLst/>
            <a:rect r="r" b="b" t="t" l="l"/>
            <a:pathLst>
              <a:path h="5305359" w="14855004">
                <a:moveTo>
                  <a:pt x="0" y="0"/>
                </a:moveTo>
                <a:lnTo>
                  <a:pt x="14855004" y="0"/>
                </a:lnTo>
                <a:lnTo>
                  <a:pt x="14855004" y="5305359"/>
                </a:lnTo>
                <a:lnTo>
                  <a:pt x="0" y="5305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CLUSTERIZAÇÃO COM K-MEANS E ESCOLHA DO MELHOR 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60498" y="600729"/>
            <a:ext cx="7047496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MIN-MAX SCALER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1735083"/>
            <a:ext cx="18723819" cy="4042974"/>
            <a:chOff x="0" y="0"/>
            <a:chExt cx="4931376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1376" cy="1064816"/>
            </a:xfrm>
            <a:custGeom>
              <a:avLst/>
              <a:gdLst/>
              <a:ahLst/>
              <a:cxnLst/>
              <a:rect r="r" b="b" t="t" l="l"/>
              <a:pathLst>
                <a:path h="1064816" w="4931376">
                  <a:moveTo>
                    <a:pt x="0" y="0"/>
                  </a:moveTo>
                  <a:lnTo>
                    <a:pt x="4931376" y="0"/>
                  </a:lnTo>
                  <a:lnTo>
                    <a:pt x="4931376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1376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63643" y="3426795"/>
            <a:ext cx="15524357" cy="5544413"/>
          </a:xfrm>
          <a:custGeom>
            <a:avLst/>
            <a:gdLst/>
            <a:ahLst/>
            <a:cxnLst/>
            <a:rect r="r" b="b" t="t" l="l"/>
            <a:pathLst>
              <a:path h="5544413" w="15524357">
                <a:moveTo>
                  <a:pt x="0" y="0"/>
                </a:moveTo>
                <a:lnTo>
                  <a:pt x="15524357" y="0"/>
                </a:lnTo>
                <a:lnTo>
                  <a:pt x="15524357" y="5544413"/>
                </a:lnTo>
                <a:lnTo>
                  <a:pt x="0" y="5544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63643" y="3426795"/>
            <a:ext cx="15524357" cy="5544413"/>
          </a:xfrm>
          <a:custGeom>
            <a:avLst/>
            <a:gdLst/>
            <a:ahLst/>
            <a:cxnLst/>
            <a:rect r="r" b="b" t="t" l="l"/>
            <a:pathLst>
              <a:path h="5544413" w="15524357">
                <a:moveTo>
                  <a:pt x="0" y="0"/>
                </a:moveTo>
                <a:lnTo>
                  <a:pt x="15524357" y="0"/>
                </a:lnTo>
                <a:lnTo>
                  <a:pt x="15524357" y="5544413"/>
                </a:lnTo>
                <a:lnTo>
                  <a:pt x="0" y="5544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CLUSTERIZAÇÃO COM K-MEANS E ESCOLHA DO MELHOR 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60498" y="600729"/>
            <a:ext cx="7047496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MIN-MAX SCALER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0300" y="4000600"/>
            <a:ext cx="3086100" cy="2171499"/>
            <a:chOff x="0" y="0"/>
            <a:chExt cx="812800" cy="571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39746" y="4572678"/>
            <a:ext cx="13608508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COMPARAÇÃO ENTRE K-MEANS E DBSCAN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563036" y="4000600"/>
            <a:ext cx="3086100" cy="2171499"/>
            <a:chOff x="0" y="0"/>
            <a:chExt cx="812800" cy="5719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3643" y="1965808"/>
            <a:ext cx="15524357" cy="5544413"/>
          </a:xfrm>
          <a:custGeom>
            <a:avLst/>
            <a:gdLst/>
            <a:ahLst/>
            <a:cxnLst/>
            <a:rect r="r" b="b" t="t" l="l"/>
            <a:pathLst>
              <a:path h="5544413" w="15524357">
                <a:moveTo>
                  <a:pt x="0" y="0"/>
                </a:moveTo>
                <a:lnTo>
                  <a:pt x="15524357" y="0"/>
                </a:lnTo>
                <a:lnTo>
                  <a:pt x="15524357" y="5544413"/>
                </a:lnTo>
                <a:lnTo>
                  <a:pt x="0" y="5544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21406" y="-1735083"/>
            <a:ext cx="18772688" cy="4042974"/>
            <a:chOff x="0" y="0"/>
            <a:chExt cx="4944247" cy="10648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44247" cy="1064816"/>
            </a:xfrm>
            <a:custGeom>
              <a:avLst/>
              <a:gdLst/>
              <a:ahLst/>
              <a:cxnLst/>
              <a:rect r="r" b="b" t="t" l="l"/>
              <a:pathLst>
                <a:path h="1064816" w="4944247">
                  <a:moveTo>
                    <a:pt x="0" y="0"/>
                  </a:moveTo>
                  <a:lnTo>
                    <a:pt x="4944247" y="0"/>
                  </a:lnTo>
                  <a:lnTo>
                    <a:pt x="4944247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44247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b="true" sz="45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COMPARAÇÃO ENTRE K-MEANS E DBSCAN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60498" y="600729"/>
            <a:ext cx="7047496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NORMALIZAÇÃO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3140" y="2548397"/>
            <a:ext cx="2438876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 normalização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Clusters: 14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Ruído: 402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55148" y="7287260"/>
            <a:ext cx="9410700" cy="299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cluster   -1      0    1    2    3    4   5   6   7   8   9  10  11  12  13  \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gas                                                                          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1.0       34   2531    0    0    0    0   0   0   0   0   0   0   0   0   0  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2.0       12   2914    0    0    0    0   0   0   0   0   0   0   0   0   0  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3.0       16   1625    0    0    0    0   0   0   0   0   0   0   0   0   0  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4.0       27   1908    0    0    0    1   0   0   0   0   0   0   0   0   0  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5.0      239   1776  124  104  224  122  80  20  97  59  21  25  26  39  53  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6.0       74   1759    0    0    0    0   0   0   0   0   0   0   0   0   0  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All      402  12513  124  104  224  123  80  20  97  59  21  25  26  39  53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1735083"/>
            <a:ext cx="18772688" cy="4042974"/>
            <a:chOff x="0" y="0"/>
            <a:chExt cx="4944247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4247" cy="1064816"/>
            </a:xfrm>
            <a:custGeom>
              <a:avLst/>
              <a:gdLst/>
              <a:ahLst/>
              <a:cxnLst/>
              <a:rect r="r" b="b" t="t" l="l"/>
              <a:pathLst>
                <a:path h="1064816" w="4944247">
                  <a:moveTo>
                    <a:pt x="0" y="0"/>
                  </a:moveTo>
                  <a:lnTo>
                    <a:pt x="4944247" y="0"/>
                  </a:lnTo>
                  <a:lnTo>
                    <a:pt x="4944247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44247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63643" y="2864801"/>
            <a:ext cx="15524357" cy="5544413"/>
          </a:xfrm>
          <a:custGeom>
            <a:avLst/>
            <a:gdLst/>
            <a:ahLst/>
            <a:cxnLst/>
            <a:rect r="r" b="b" t="t" l="l"/>
            <a:pathLst>
              <a:path h="5544413" w="15524357">
                <a:moveTo>
                  <a:pt x="0" y="0"/>
                </a:moveTo>
                <a:lnTo>
                  <a:pt x="15524357" y="0"/>
                </a:lnTo>
                <a:lnTo>
                  <a:pt x="15524357" y="5544413"/>
                </a:lnTo>
                <a:lnTo>
                  <a:pt x="0" y="5544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b="true" sz="45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COMPARAÇÃO ENTRE K-MEANS E DBSCAN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60498" y="600729"/>
            <a:ext cx="7047496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STANDARD SCALER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1527" y="2817176"/>
            <a:ext cx="2124234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Standard Scaler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Clusters: 1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Ruído: 97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1735083"/>
            <a:ext cx="18772688" cy="4042974"/>
            <a:chOff x="0" y="0"/>
            <a:chExt cx="4944247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4247" cy="1064816"/>
            </a:xfrm>
            <a:custGeom>
              <a:avLst/>
              <a:gdLst/>
              <a:ahLst/>
              <a:cxnLst/>
              <a:rect r="r" b="b" t="t" l="l"/>
              <a:pathLst>
                <a:path h="1064816" w="4944247">
                  <a:moveTo>
                    <a:pt x="0" y="0"/>
                  </a:moveTo>
                  <a:lnTo>
                    <a:pt x="4944247" y="0"/>
                  </a:lnTo>
                  <a:lnTo>
                    <a:pt x="4944247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44247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63643" y="2864801"/>
            <a:ext cx="15524357" cy="5544413"/>
          </a:xfrm>
          <a:custGeom>
            <a:avLst/>
            <a:gdLst/>
            <a:ahLst/>
            <a:cxnLst/>
            <a:rect r="r" b="b" t="t" l="l"/>
            <a:pathLst>
              <a:path h="5544413" w="15524357">
                <a:moveTo>
                  <a:pt x="0" y="0"/>
                </a:moveTo>
                <a:lnTo>
                  <a:pt x="15524357" y="0"/>
                </a:lnTo>
                <a:lnTo>
                  <a:pt x="15524357" y="5544413"/>
                </a:lnTo>
                <a:lnTo>
                  <a:pt x="0" y="5544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b="true" sz="45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COMPARAÇÃO ENTRE K-MEANS E DBSCAN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60498" y="600729"/>
            <a:ext cx="7047496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MIN-MAX SCALER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1612" y="2817176"/>
            <a:ext cx="2024062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Min-Max </a:t>
            </a: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Scaler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Clusters: 3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Ruído: 449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0300" y="4000600"/>
            <a:ext cx="3086100" cy="2171499"/>
            <a:chOff x="0" y="0"/>
            <a:chExt cx="812800" cy="571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39746" y="4163103"/>
            <a:ext cx="13608508" cy="184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CLUSTERIZAÇÃO HIERÁRQUICA E DENDROGRAMA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563036" y="4000600"/>
            <a:ext cx="3086100" cy="2171499"/>
            <a:chOff x="0" y="0"/>
            <a:chExt cx="812800" cy="5719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2021487"/>
            <a:ext cx="9365406" cy="4042974"/>
            <a:chOff x="0" y="0"/>
            <a:chExt cx="2466609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6609" cy="1064816"/>
            </a:xfrm>
            <a:custGeom>
              <a:avLst/>
              <a:gdLst/>
              <a:ahLst/>
              <a:cxnLst/>
              <a:rect r="r" b="b" t="t" l="l"/>
              <a:pathLst>
                <a:path h="1064816" w="2466609">
                  <a:moveTo>
                    <a:pt x="0" y="0"/>
                  </a:moveTo>
                  <a:lnTo>
                    <a:pt x="2466609" y="0"/>
                  </a:lnTo>
                  <a:lnTo>
                    <a:pt x="2466609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66609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43098" y="3775149"/>
            <a:ext cx="9123622" cy="6276003"/>
          </a:xfrm>
          <a:custGeom>
            <a:avLst/>
            <a:gdLst/>
            <a:ahLst/>
            <a:cxnLst/>
            <a:rect r="r" b="b" t="t" l="l"/>
            <a:pathLst>
              <a:path h="6276003" w="9123622">
                <a:moveTo>
                  <a:pt x="0" y="0"/>
                </a:moveTo>
                <a:lnTo>
                  <a:pt x="9123622" y="0"/>
                </a:lnTo>
                <a:lnTo>
                  <a:pt x="9123622" y="6276003"/>
                </a:lnTo>
                <a:lnTo>
                  <a:pt x="0" y="6276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3539301"/>
            <a:ext cx="8322644" cy="6747699"/>
          </a:xfrm>
          <a:custGeom>
            <a:avLst/>
            <a:gdLst/>
            <a:ahLst/>
            <a:cxnLst/>
            <a:rect r="r" b="b" t="t" l="l"/>
            <a:pathLst>
              <a:path h="6747699" w="8322644">
                <a:moveTo>
                  <a:pt x="0" y="0"/>
                </a:moveTo>
                <a:lnTo>
                  <a:pt x="8322644" y="0"/>
                </a:lnTo>
                <a:lnTo>
                  <a:pt x="8322644" y="6747699"/>
                </a:lnTo>
                <a:lnTo>
                  <a:pt x="0" y="67476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CLUSTERIZAÇÃO HIERÁRQUICA E DENDROGRAMA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49567" y="-28575"/>
            <a:ext cx="5086742" cy="62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85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Foram utilizadas 20 features selecionadas pelo critério de Fisher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49567" y="772634"/>
            <a:ext cx="5086742" cy="62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85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Usamos a normalização StandardScaler (Z-score)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49567" y="1573842"/>
            <a:ext cx="5086742" cy="160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85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estratégia adotada foi amostragem estratificada por gás, com 50 amostras de cada um dos 6 gases, totalizando 300 amostras no dendrograma. Isso preserva a representatividade de todas as classes.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2021487"/>
            <a:ext cx="9365406" cy="4042974"/>
            <a:chOff x="0" y="0"/>
            <a:chExt cx="2466609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6609" cy="1064816"/>
            </a:xfrm>
            <a:custGeom>
              <a:avLst/>
              <a:gdLst/>
              <a:ahLst/>
              <a:cxnLst/>
              <a:rect r="r" b="b" t="t" l="l"/>
              <a:pathLst>
                <a:path h="1064816" w="2466609">
                  <a:moveTo>
                    <a:pt x="0" y="0"/>
                  </a:moveTo>
                  <a:lnTo>
                    <a:pt x="2466609" y="0"/>
                  </a:lnTo>
                  <a:lnTo>
                    <a:pt x="2466609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66609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119485" y="2291407"/>
            <a:ext cx="9540793" cy="7155595"/>
          </a:xfrm>
          <a:custGeom>
            <a:avLst/>
            <a:gdLst/>
            <a:ahLst/>
            <a:cxnLst/>
            <a:rect r="r" b="b" t="t" l="l"/>
            <a:pathLst>
              <a:path h="7155595" w="9540793">
                <a:moveTo>
                  <a:pt x="0" y="0"/>
                </a:moveTo>
                <a:lnTo>
                  <a:pt x="9540793" y="0"/>
                </a:lnTo>
                <a:lnTo>
                  <a:pt x="9540793" y="7155595"/>
                </a:lnTo>
                <a:lnTo>
                  <a:pt x="0" y="7155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CLUSTERIZAÇÃO HIERÁRQUICA E DENDROGRAMA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2021487"/>
            <a:ext cx="9365406" cy="4042974"/>
            <a:chOff x="0" y="0"/>
            <a:chExt cx="2466609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6609" cy="1064816"/>
            </a:xfrm>
            <a:custGeom>
              <a:avLst/>
              <a:gdLst/>
              <a:ahLst/>
              <a:cxnLst/>
              <a:rect r="r" b="b" t="t" l="l"/>
              <a:pathLst>
                <a:path h="1064816" w="2466609">
                  <a:moveTo>
                    <a:pt x="0" y="0"/>
                  </a:moveTo>
                  <a:lnTo>
                    <a:pt x="2466609" y="0"/>
                  </a:lnTo>
                  <a:lnTo>
                    <a:pt x="2466609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66609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37446" y="3358290"/>
            <a:ext cx="8583803" cy="5875923"/>
          </a:xfrm>
          <a:custGeom>
            <a:avLst/>
            <a:gdLst/>
            <a:ahLst/>
            <a:cxnLst/>
            <a:rect r="r" b="b" t="t" l="l"/>
            <a:pathLst>
              <a:path h="5875923" w="8583803">
                <a:moveTo>
                  <a:pt x="0" y="0"/>
                </a:moveTo>
                <a:lnTo>
                  <a:pt x="8583803" y="0"/>
                </a:lnTo>
                <a:lnTo>
                  <a:pt x="8583803" y="5875923"/>
                </a:lnTo>
                <a:lnTo>
                  <a:pt x="0" y="5875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6474" y="2945530"/>
            <a:ext cx="7820660" cy="6249698"/>
          </a:xfrm>
          <a:custGeom>
            <a:avLst/>
            <a:gdLst/>
            <a:ahLst/>
            <a:cxnLst/>
            <a:rect r="r" b="b" t="t" l="l"/>
            <a:pathLst>
              <a:path h="6249698" w="7820660">
                <a:moveTo>
                  <a:pt x="0" y="0"/>
                </a:moveTo>
                <a:lnTo>
                  <a:pt x="7820660" y="0"/>
                </a:lnTo>
                <a:lnTo>
                  <a:pt x="7820660" y="6249697"/>
                </a:lnTo>
                <a:lnTo>
                  <a:pt x="0" y="6249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CLUSTERIZAÇÃO HIERÁRQUICA E DENDROGRAMA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2021487"/>
            <a:ext cx="9365406" cy="4042974"/>
            <a:chOff x="0" y="0"/>
            <a:chExt cx="2466609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6609" cy="1064816"/>
            </a:xfrm>
            <a:custGeom>
              <a:avLst/>
              <a:gdLst/>
              <a:ahLst/>
              <a:cxnLst/>
              <a:rect r="r" b="b" t="t" l="l"/>
              <a:pathLst>
                <a:path h="1064816" w="2466609">
                  <a:moveTo>
                    <a:pt x="0" y="0"/>
                  </a:moveTo>
                  <a:lnTo>
                    <a:pt x="2466609" y="0"/>
                  </a:lnTo>
                  <a:lnTo>
                    <a:pt x="2466609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66609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238466" y="2291407"/>
            <a:ext cx="9517336" cy="7138002"/>
          </a:xfrm>
          <a:custGeom>
            <a:avLst/>
            <a:gdLst/>
            <a:ahLst/>
            <a:cxnLst/>
            <a:rect r="r" b="b" t="t" l="l"/>
            <a:pathLst>
              <a:path h="7138002" w="9517336">
                <a:moveTo>
                  <a:pt x="0" y="0"/>
                </a:moveTo>
                <a:lnTo>
                  <a:pt x="9517336" y="0"/>
                </a:lnTo>
                <a:lnTo>
                  <a:pt x="9517336" y="7138002"/>
                </a:lnTo>
                <a:lnTo>
                  <a:pt x="0" y="7138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CLUSTERIZAÇÃO HIERÁRQUICA E DENDROGRAMA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21487"/>
            <a:ext cx="9365406" cy="4042974"/>
            <a:chOff x="0" y="0"/>
            <a:chExt cx="2466609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6609" cy="1064816"/>
            </a:xfrm>
            <a:custGeom>
              <a:avLst/>
              <a:gdLst/>
              <a:ahLst/>
              <a:cxnLst/>
              <a:rect r="r" b="b" t="t" l="l"/>
              <a:pathLst>
                <a:path h="1064816" w="2466609">
                  <a:moveTo>
                    <a:pt x="0" y="0"/>
                  </a:moveTo>
                  <a:lnTo>
                    <a:pt x="2466609" y="0"/>
                  </a:lnTo>
                  <a:lnTo>
                    <a:pt x="2466609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66609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29971" y="2976618"/>
            <a:ext cx="7110320" cy="5863082"/>
          </a:xfrm>
          <a:custGeom>
            <a:avLst/>
            <a:gdLst/>
            <a:ahLst/>
            <a:cxnLst/>
            <a:rect r="r" b="b" t="t" l="l"/>
            <a:pathLst>
              <a:path h="5863082" w="7110320">
                <a:moveTo>
                  <a:pt x="0" y="0"/>
                </a:moveTo>
                <a:lnTo>
                  <a:pt x="7110320" y="0"/>
                </a:lnTo>
                <a:lnTo>
                  <a:pt x="7110320" y="5863082"/>
                </a:lnTo>
                <a:lnTo>
                  <a:pt x="0" y="58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3140" y="200679"/>
            <a:ext cx="8763994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CLUSTERIZAÇÃO HIERÁRQUICA E DENDROGRAMA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598378" y="2976618"/>
            <a:ext cx="9422135" cy="6218609"/>
          </a:xfrm>
          <a:custGeom>
            <a:avLst/>
            <a:gdLst/>
            <a:ahLst/>
            <a:cxnLst/>
            <a:rect r="r" b="b" t="t" l="l"/>
            <a:pathLst>
              <a:path h="6218609" w="9422135">
                <a:moveTo>
                  <a:pt x="0" y="0"/>
                </a:moveTo>
                <a:lnTo>
                  <a:pt x="9422136" y="0"/>
                </a:lnTo>
                <a:lnTo>
                  <a:pt x="9422136" y="6218609"/>
                </a:lnTo>
                <a:lnTo>
                  <a:pt x="0" y="6218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0300" y="4000600"/>
            <a:ext cx="3086100" cy="2171499"/>
            <a:chOff x="0" y="0"/>
            <a:chExt cx="812800" cy="571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55164" y="3639228"/>
            <a:ext cx="13608508" cy="277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REDUÇÃO DE DIMENSIONALIDADE COM PCA E COMPARAR EM CLASSIFICAÇÃO SEM PCA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563036" y="4000600"/>
            <a:ext cx="3086100" cy="2171499"/>
            <a:chOff x="0" y="0"/>
            <a:chExt cx="812800" cy="5719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2021487"/>
            <a:ext cx="18509406" cy="4042974"/>
            <a:chOff x="0" y="0"/>
            <a:chExt cx="4874905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4906" cy="1064816"/>
            </a:xfrm>
            <a:custGeom>
              <a:avLst/>
              <a:gdLst/>
              <a:ahLst/>
              <a:cxnLst/>
              <a:rect r="r" b="b" t="t" l="l"/>
              <a:pathLst>
                <a:path h="1064816" w="4874906">
                  <a:moveTo>
                    <a:pt x="0" y="0"/>
                  </a:moveTo>
                  <a:lnTo>
                    <a:pt x="4874906" y="0"/>
                  </a:lnTo>
                  <a:lnTo>
                    <a:pt x="4874906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74905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012963" y="2833757"/>
            <a:ext cx="10040667" cy="6141560"/>
          </a:xfrm>
          <a:custGeom>
            <a:avLst/>
            <a:gdLst/>
            <a:ahLst/>
            <a:cxnLst/>
            <a:rect r="r" b="b" t="t" l="l"/>
            <a:pathLst>
              <a:path h="6141560" w="10040667">
                <a:moveTo>
                  <a:pt x="0" y="0"/>
                </a:moveTo>
                <a:lnTo>
                  <a:pt x="10040667" y="0"/>
                </a:lnTo>
                <a:lnTo>
                  <a:pt x="10040667" y="6141560"/>
                </a:lnTo>
                <a:lnTo>
                  <a:pt x="0" y="6141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17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3140" y="54629"/>
            <a:ext cx="8763994" cy="187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2"/>
              </a:lnSpc>
            </a:pPr>
            <a:r>
              <a:rPr lang="en-US" sz="3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REDUÇÃO DE DIMENSIONALIDADE COM PCA E COMPARAR EM CLASSIFICAÇÃO SEM PCA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36063" y="200679"/>
            <a:ext cx="7047496" cy="157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ESCOLHA DO N_COMPONENTS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2021487"/>
            <a:ext cx="20434234" cy="4042974"/>
            <a:chOff x="0" y="0"/>
            <a:chExt cx="5381856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81856" cy="1064816"/>
            </a:xfrm>
            <a:custGeom>
              <a:avLst/>
              <a:gdLst/>
              <a:ahLst/>
              <a:cxnLst/>
              <a:rect r="r" b="b" t="t" l="l"/>
              <a:pathLst>
                <a:path h="1064816" w="5381856">
                  <a:moveTo>
                    <a:pt x="0" y="0"/>
                  </a:moveTo>
                  <a:lnTo>
                    <a:pt x="5381856" y="0"/>
                  </a:lnTo>
                  <a:lnTo>
                    <a:pt x="5381856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81856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1496" y="9195227"/>
            <a:ext cx="897167" cy="2183545"/>
            <a:chOff x="0" y="0"/>
            <a:chExt cx="236291" cy="57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4582814"/>
            <a:ext cx="7605581" cy="5704186"/>
          </a:xfrm>
          <a:custGeom>
            <a:avLst/>
            <a:gdLst/>
            <a:ahLst/>
            <a:cxnLst/>
            <a:rect r="r" b="b" t="t" l="l"/>
            <a:pathLst>
              <a:path h="5704186" w="7605581">
                <a:moveTo>
                  <a:pt x="0" y="0"/>
                </a:moveTo>
                <a:lnTo>
                  <a:pt x="7605581" y="0"/>
                </a:lnTo>
                <a:lnTo>
                  <a:pt x="7605581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58469" y="4682214"/>
            <a:ext cx="7605581" cy="5704186"/>
          </a:xfrm>
          <a:custGeom>
            <a:avLst/>
            <a:gdLst/>
            <a:ahLst/>
            <a:cxnLst/>
            <a:rect r="r" b="b" t="t" l="l"/>
            <a:pathLst>
              <a:path h="5704186" w="7605581">
                <a:moveTo>
                  <a:pt x="0" y="0"/>
                </a:moveTo>
                <a:lnTo>
                  <a:pt x="7605581" y="0"/>
                </a:lnTo>
                <a:lnTo>
                  <a:pt x="7605581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931962" y="2103178"/>
            <a:ext cx="4839415" cy="2725997"/>
            <a:chOff x="0" y="0"/>
            <a:chExt cx="1274579" cy="7179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4578" cy="717958"/>
            </a:xfrm>
            <a:custGeom>
              <a:avLst/>
              <a:gdLst/>
              <a:ahLst/>
              <a:cxnLst/>
              <a:rect r="r" b="b" t="t" l="l"/>
              <a:pathLst>
                <a:path h="717958" w="1274578">
                  <a:moveTo>
                    <a:pt x="31995" y="0"/>
                  </a:moveTo>
                  <a:lnTo>
                    <a:pt x="1242583" y="0"/>
                  </a:lnTo>
                  <a:cubicBezTo>
                    <a:pt x="1260254" y="0"/>
                    <a:pt x="1274578" y="14325"/>
                    <a:pt x="1274578" y="31995"/>
                  </a:cubicBezTo>
                  <a:lnTo>
                    <a:pt x="1274578" y="685963"/>
                  </a:lnTo>
                  <a:cubicBezTo>
                    <a:pt x="1274578" y="703633"/>
                    <a:pt x="1260254" y="717958"/>
                    <a:pt x="1242583" y="717958"/>
                  </a:cubicBezTo>
                  <a:lnTo>
                    <a:pt x="31995" y="717958"/>
                  </a:lnTo>
                  <a:cubicBezTo>
                    <a:pt x="14325" y="717958"/>
                    <a:pt x="0" y="703633"/>
                    <a:pt x="0" y="685963"/>
                  </a:cubicBezTo>
                  <a:lnTo>
                    <a:pt x="0" y="31995"/>
                  </a:lnTo>
                  <a:cubicBezTo>
                    <a:pt x="0" y="14325"/>
                    <a:pt x="14325" y="0"/>
                    <a:pt x="31995" y="0"/>
                  </a:cubicBezTo>
                  <a:close/>
                </a:path>
              </a:pathLst>
            </a:custGeom>
            <a:solidFill>
              <a:srgbClr val="B3C1E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74579" cy="765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16623" y="2103178"/>
            <a:ext cx="4839415" cy="2725997"/>
            <a:chOff x="0" y="0"/>
            <a:chExt cx="1274579" cy="7179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4578" cy="717958"/>
            </a:xfrm>
            <a:custGeom>
              <a:avLst/>
              <a:gdLst/>
              <a:ahLst/>
              <a:cxnLst/>
              <a:rect r="r" b="b" t="t" l="l"/>
              <a:pathLst>
                <a:path h="717958" w="1274578">
                  <a:moveTo>
                    <a:pt x="31995" y="0"/>
                  </a:moveTo>
                  <a:lnTo>
                    <a:pt x="1242583" y="0"/>
                  </a:lnTo>
                  <a:cubicBezTo>
                    <a:pt x="1260254" y="0"/>
                    <a:pt x="1274578" y="14325"/>
                    <a:pt x="1274578" y="31995"/>
                  </a:cubicBezTo>
                  <a:lnTo>
                    <a:pt x="1274578" y="685963"/>
                  </a:lnTo>
                  <a:cubicBezTo>
                    <a:pt x="1274578" y="703633"/>
                    <a:pt x="1260254" y="717958"/>
                    <a:pt x="1242583" y="717958"/>
                  </a:cubicBezTo>
                  <a:lnTo>
                    <a:pt x="31995" y="717958"/>
                  </a:lnTo>
                  <a:cubicBezTo>
                    <a:pt x="14325" y="717958"/>
                    <a:pt x="0" y="703633"/>
                    <a:pt x="0" y="685963"/>
                  </a:cubicBezTo>
                  <a:lnTo>
                    <a:pt x="0" y="31995"/>
                  </a:lnTo>
                  <a:cubicBezTo>
                    <a:pt x="0" y="14325"/>
                    <a:pt x="14325" y="0"/>
                    <a:pt x="31995" y="0"/>
                  </a:cubicBezTo>
                  <a:close/>
                </a:path>
              </a:pathLst>
            </a:custGeom>
            <a:solidFill>
              <a:srgbClr val="B3C1E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74579" cy="765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783760" y="2481738"/>
            <a:ext cx="4305141" cy="166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 PCA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Accuracy : 0.9910136592379583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Precision: 0.9910208698633992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Recall   : 0.9910136592379583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F1       : 0.9910114378786586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99099" y="2481738"/>
            <a:ext cx="4305141" cy="166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PCA com 13 componentes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Accuracy : 0.9910136592379583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Precision: 0.9910420678497703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Recall   : 0.9910136592379583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F1       : 0.991015405042995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3140" y="54629"/>
            <a:ext cx="8763994" cy="187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2"/>
              </a:lnSpc>
            </a:pPr>
            <a:r>
              <a:rPr lang="en-US" sz="3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REDUÇÃO DE DIMENSIONALIDADE COM PCA E COMPARAR EM CLASSIFICAÇÃO SEM PCA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69546" y="600729"/>
            <a:ext cx="7047496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KNN COM E SEM PCA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1406" y="-2021487"/>
            <a:ext cx="20434234" cy="4042974"/>
            <a:chOff x="0" y="0"/>
            <a:chExt cx="5381856" cy="1064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81856" cy="1064816"/>
            </a:xfrm>
            <a:custGeom>
              <a:avLst/>
              <a:gdLst/>
              <a:ahLst/>
              <a:cxnLst/>
              <a:rect r="r" b="b" t="t" l="l"/>
              <a:pathLst>
                <a:path h="1064816" w="5381856">
                  <a:moveTo>
                    <a:pt x="0" y="0"/>
                  </a:moveTo>
                  <a:lnTo>
                    <a:pt x="5381856" y="0"/>
                  </a:lnTo>
                  <a:lnTo>
                    <a:pt x="5381856" y="1064816"/>
                  </a:lnTo>
                  <a:lnTo>
                    <a:pt x="0" y="106481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81856" cy="111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61260" y="2384191"/>
            <a:ext cx="9165479" cy="6874109"/>
          </a:xfrm>
          <a:custGeom>
            <a:avLst/>
            <a:gdLst/>
            <a:ahLst/>
            <a:cxnLst/>
            <a:rect r="r" b="b" t="t" l="l"/>
            <a:pathLst>
              <a:path h="6874109" w="9165479">
                <a:moveTo>
                  <a:pt x="0" y="0"/>
                </a:moveTo>
                <a:lnTo>
                  <a:pt x="9165480" y="0"/>
                </a:lnTo>
                <a:lnTo>
                  <a:pt x="9165480" y="6874109"/>
                </a:lnTo>
                <a:lnTo>
                  <a:pt x="0" y="6874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3140" y="54629"/>
            <a:ext cx="8763994" cy="187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2"/>
              </a:lnSpc>
            </a:pPr>
            <a:r>
              <a:rPr lang="en-US" sz="3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REDUÇÃO DE DIMENSIONALIDADE COM PCA E COMPARAR EM CLASSIFICAÇÃO SEM PCA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69546" y="600729"/>
            <a:ext cx="7047496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DISTRIBUIÇÃO PCA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02328" y="3895725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5228" y="3790589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752850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OBRIGADO!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91586" y="8792874"/>
            <a:ext cx="762324" cy="762324"/>
          </a:xfrm>
          <a:custGeom>
            <a:avLst/>
            <a:gdLst/>
            <a:ahLst/>
            <a:cxnLst/>
            <a:rect r="r" b="b" t="t" l="l"/>
            <a:pathLst>
              <a:path h="762324" w="762324">
                <a:moveTo>
                  <a:pt x="0" y="0"/>
                </a:moveTo>
                <a:lnTo>
                  <a:pt x="762324" y="0"/>
                </a:lnTo>
                <a:lnTo>
                  <a:pt x="762324" y="762323"/>
                </a:lnTo>
                <a:lnTo>
                  <a:pt x="0" y="7623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38717" y="8849432"/>
            <a:ext cx="5610566" cy="57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1"/>
              </a:lnSpc>
              <a:spcBef>
                <a:spcPct val="0"/>
              </a:spcBef>
            </a:pPr>
            <a:r>
              <a:rPr lang="en-US" sz="33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marcoslrm@alu.ufc.br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291586" y="7764019"/>
            <a:ext cx="762324" cy="762324"/>
          </a:xfrm>
          <a:custGeom>
            <a:avLst/>
            <a:gdLst/>
            <a:ahLst/>
            <a:cxnLst/>
            <a:rect r="r" b="b" t="t" l="l"/>
            <a:pathLst>
              <a:path h="762324" w="762324">
                <a:moveTo>
                  <a:pt x="0" y="0"/>
                </a:moveTo>
                <a:lnTo>
                  <a:pt x="762324" y="0"/>
                </a:lnTo>
                <a:lnTo>
                  <a:pt x="762324" y="762324"/>
                </a:lnTo>
                <a:lnTo>
                  <a:pt x="0" y="762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338717" y="7820577"/>
            <a:ext cx="5610566" cy="57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1"/>
              </a:lnSpc>
              <a:spcBef>
                <a:spcPct val="0"/>
              </a:spcBef>
            </a:pPr>
            <a:r>
              <a:rPr lang="en-US" sz="33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kelseyricardo@alu.ufc.br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DAHKAUUqAqM</dc:identifier>
  <dcterms:modified xsi:type="dcterms:W3CDTF">2011-08-01T06:04:30Z</dcterms:modified>
  <cp:revision>1</cp:revision>
  <dc:title>Inteligência artificial</dc:title>
</cp:coreProperties>
</file>