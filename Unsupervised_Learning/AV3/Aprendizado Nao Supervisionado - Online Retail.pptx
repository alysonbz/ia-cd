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77" r:id="rId7"/>
    <p:sldId id="276" r:id="rId8"/>
    <p:sldId id="261" r:id="rId9"/>
    <p:sldId id="262" r:id="rId10"/>
    <p:sldId id="263" r:id="rId11"/>
    <p:sldId id="264" r:id="rId12"/>
    <p:sldId id="278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6256000" cy="9144000"/>
  <p:notesSz cx="9144000" cy="16256000"/>
  <p:embeddedFontLst>
    <p:embeddedFont>
      <p:font typeface="Quattrocento Sans" panose="020B0604020202020204" charset="0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2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Inercia</c:v>
                </c:pt>
              </c:strCache>
            </c:strRef>
          </c:tx>
          <c:spPr>
            <a:ln w="25400" cap="flat">
              <a:solidFill>
                <a:srgbClr val="003A7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3A70"/>
              </a:solidFill>
              <a:ln w="9525" cap="flat">
                <a:solidFill>
                  <a:srgbClr val="003A70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4200</c:v>
                </c:pt>
                <c:pt idx="1">
                  <c:v>3100</c:v>
                </c:pt>
                <c:pt idx="2">
                  <c:v>2500</c:v>
                </c:pt>
                <c:pt idx="3">
                  <c:v>2100</c:v>
                </c:pt>
                <c:pt idx="4">
                  <c:v>1850</c:v>
                </c:pt>
                <c:pt idx="5">
                  <c:v>1650</c:v>
                </c:pt>
                <c:pt idx="6">
                  <c:v>1500</c:v>
                </c:pt>
                <c:pt idx="7">
                  <c:v>1380</c:v>
                </c:pt>
                <c:pt idx="8">
                  <c:v>1280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7179072"/>
        <c:axId val="277174760"/>
      </c:lineChart>
      <c:catAx>
        <c:axId val="2771790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pt-BR" b="0" i="0" u="none" strike="noStrike">
                    <a:solidFill>
                      <a:srgbClr val="000000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pt-BR"/>
          </a:p>
        </c:txPr>
        <c:crossAx val="277174760"/>
        <c:crosses val="autoZero"/>
        <c:auto val="1"/>
        <c:lblAlgn val="ctr"/>
        <c:lblOffset val="100"/>
        <c:noMultiLvlLbl val="1"/>
      </c:catAx>
      <c:valAx>
        <c:axId val="277174760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E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pt-BR" b="0" i="0" u="none" strike="noStrike">
                    <a:solidFill>
                      <a:srgbClr val="000000"/>
                    </a:solidFill>
                    <a:latin typeface="Arial"/>
                  </a:rPr>
                  <a:t>Inercia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pt-BR"/>
          </a:p>
        </c:txPr>
        <c:crossAx val="277179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003A7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0.31869999999999998</c:v>
                </c:pt>
                <c:pt idx="1">
                  <c:v>0.28910000000000002</c:v>
                </c:pt>
                <c:pt idx="2">
                  <c:v>0.26540000000000002</c:v>
                </c:pt>
                <c:pt idx="3">
                  <c:v>0.2432</c:v>
                </c:pt>
                <c:pt idx="4">
                  <c:v>0.23100000000000001</c:v>
                </c:pt>
                <c:pt idx="5">
                  <c:v>0.21890000000000001</c:v>
                </c:pt>
                <c:pt idx="6">
                  <c:v>0.20760000000000001</c:v>
                </c:pt>
                <c:pt idx="7">
                  <c:v>0.19539999999999999</c:v>
                </c:pt>
                <c:pt idx="8">
                  <c:v>0.1832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77176720"/>
        <c:axId val="277179464"/>
      </c:barChart>
      <c:catAx>
        <c:axId val="27717672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pt-BR" b="0" i="0" u="none" strike="noStrike">
                    <a:solidFill>
                      <a:srgbClr val="000000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pt-BR"/>
          </a:p>
        </c:txPr>
        <c:crossAx val="277179464"/>
        <c:crosses val="autoZero"/>
        <c:auto val="1"/>
        <c:lblAlgn val="ctr"/>
        <c:lblOffset val="100"/>
        <c:noMultiLvlLbl val="1"/>
      </c:catAx>
      <c:valAx>
        <c:axId val="27717946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E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pt-BR" b="0" i="0" u="none" strike="noStrike">
                    <a:solidFill>
                      <a:srgbClr val="000000"/>
                    </a:solidFill>
                    <a:latin typeface="Arial"/>
                  </a:rPr>
                  <a:t>Silhouette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pt-BR"/>
          </a:p>
        </c:txPr>
        <c:crossAx val="277176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3A70"/>
              </a:solidFill>
              <a:effectLst/>
            </c:spPr>
          </c:dPt>
          <c:dPt>
            <c:idx val="1"/>
            <c:bubble3D val="0"/>
            <c:spPr>
              <a:solidFill>
                <a:srgbClr val="C4911D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Cluster 0</c:v>
                </c:pt>
                <c:pt idx="1">
                  <c:v>Cluster 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556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75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06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97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02850"/>
            </a:gs>
            <a:gs pos="100000">
              <a:srgbClr val="004A8C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4318000"/>
            <a:ext cx="2540000" cy="0"/>
          </a:xfrm>
          <a:prstGeom prst="straightConnector1">
            <a:avLst/>
          </a:prstGeom>
          <a:noFill/>
          <a:ln w="38100">
            <a:solidFill>
              <a:srgbClr val="C4911D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286000"/>
            <a:ext cx="1143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Aprendizado Nao Supervisionado</a:t>
            </a:r>
            <a:endParaRPr lang="en-US" sz="4000" dirty="0"/>
          </a:p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Retail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16000" y="4572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Aplicacao de tecnicas de clusterizacao no dataset Online Retail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 UCI Machine Learning Repository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6000" y="7366000"/>
            <a:ext cx="1143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5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Abimael Gomes Mesquita Filho</a:t>
            </a: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(583351) </a:t>
            </a: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</a:t>
            </a: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Kaue Cruz Gomes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Inteligencia Artificial | Universidade Federal do Ceara</a:t>
            </a:r>
            <a:endParaRPr lang="en-US" sz="15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Sumario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4732000" cy="0"/>
          </a:xfrm>
          <a:prstGeom prst="straightConnector1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651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4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Introducao e Analise Exploratoria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Dataset, atributos e exploracao inicial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382000" y="1651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4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Analise Visual e Clusterizacao K-Means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Dispersao, cotovelo, Silhouette e clusters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62000" y="3429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4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Comparacao K-Means vs DBSCAN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Algoritmos baseados em distancia e densidade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382000" y="3429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4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da Normalizacao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Efeito da normalizacao na qualidade dos clusters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62000" y="5207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4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Clusterizacao Hierarquica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Dendrogramas e validacao dos agrupamentos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382000" y="5207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4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 e Classificacao Supervisionada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Reducao de dimensionalidade e impacto no KNN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4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Conclusoes e Proximos Passos</a:t>
            </a:r>
            <a:endParaRPr lang="en-US" sz="42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Sintese dos resultados e trabalhos futuros</a:t>
            </a:r>
            <a:endParaRPr lang="en-US" sz="4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E8EEF4"/>
            </a:gs>
            <a:gs pos="100000">
              <a:srgbClr val="F5F6F8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4445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62000" y="4572000"/>
            <a:ext cx="1016000" cy="635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82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smtClean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Introducão </a:t>
            </a:r>
            <a:r>
              <a:rPr lang="en-US" sz="2800" b="1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 </a:t>
            </a:r>
            <a:r>
              <a:rPr lang="en-US" sz="2800" b="1" smtClean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Análise Exploratória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558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Online Retail, atributos comportamentais </a:t>
            </a:r>
            <a:r>
              <a:rPr lang="en-US" sz="220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 </a:t>
            </a:r>
            <a:r>
              <a:rPr lang="en-US" sz="2200" smtClean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exploração </a:t>
            </a:r>
            <a:r>
              <a:rPr lang="en-US" sz="22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inicial dos dados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" y="50800"/>
            <a:ext cx="25019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INTRODUCAO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NORMALIZACAO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HIERARQUICA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63500" cy="4064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6858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e Atributos Comportamentais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62000" y="1397000"/>
            <a:ext cx="685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Online Retail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transacional da UCI Machine Learning Repository com registros de compras de uma empresa de comercio eletronico.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Problemas Encontrados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Clientes sem identificacao (CustomerID ausente)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Notas fiscais canceladas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Quantidades e precos unitarios &lt;= 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01000" y="1397000"/>
            <a:ext cx="7493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5000" y="1524000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Atributos Comportamentais por Cliente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0" y="2006600"/>
          <a:ext cx="6985000" cy="2438400"/>
        </p:xfrm>
        <a:graphic>
          <a:graphicData uri="http://schemas.openxmlformats.org/drawingml/2006/table">
            <a:tbl>
              <a:tblPr/>
              <a:tblGrid>
                <a:gridCol w="2654300"/>
                <a:gridCol w="43307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Atributo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Descricao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recency_days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Dias desde a ultima compra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frequency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Numero de compras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total_quantity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Quantidade total adquirida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monetary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Valor total gasto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avg_unit_price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Preco medio unitario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num_products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Diversidade de produtos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avg_basket_value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Valor medio da cesta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62000" y="4953000"/>
            <a:ext cx="14732000" cy="101600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12700">
            <a:solidFill>
              <a:srgbClr val="F0D78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16000" y="520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4911D"/>
          </a:solidFill>
          <a:ln/>
        </p:spPr>
      </p:sp>
      <p:sp>
        <p:nvSpPr>
          <p:cNvPr id="18" name="Text 15"/>
          <p:cNvSpPr/>
          <p:nvPr/>
        </p:nvSpPr>
        <p:spPr>
          <a:xfrm>
            <a:off x="1524000" y="50165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Observacao: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Forte assimetria detectada nas variaveis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monetary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total_quantity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Foi avaliada transformacao logaritmica e normalizacao ao longo do trabalho.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62000" y="635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Fluxo de Processamento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62000" y="68580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003A70"/>
          </a:solidFill>
          <a:ln/>
        </p:spPr>
      </p:sp>
      <p:sp>
        <p:nvSpPr>
          <p:cNvPr id="21" name="Text 18"/>
          <p:cNvSpPr/>
          <p:nvPr/>
        </p:nvSpPr>
        <p:spPr>
          <a:xfrm>
            <a:off x="762000" y="6858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Original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556000" y="7175500"/>
            <a:ext cx="508000" cy="0"/>
          </a:xfrm>
          <a:prstGeom prst="straightConnector1">
            <a:avLst/>
          </a:prstGeom>
          <a:noFill/>
          <a:ln w="25400">
            <a:solidFill>
              <a:srgbClr val="003A70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4064000" y="6858000"/>
            <a:ext cx="2286000" cy="635000"/>
          </a:xfrm>
          <a:prstGeom prst="roundRect">
            <a:avLst>
              <a:gd name="adj" fmla="val 8000"/>
            </a:avLst>
          </a:prstGeom>
          <a:solidFill>
            <a:srgbClr val="003A70"/>
          </a:solidFill>
          <a:ln/>
        </p:spPr>
      </p:sp>
      <p:sp>
        <p:nvSpPr>
          <p:cNvPr id="24" name="Text 21"/>
          <p:cNvSpPr/>
          <p:nvPr/>
        </p:nvSpPr>
        <p:spPr>
          <a:xfrm>
            <a:off x="4064000" y="6858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Limpeza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350000" y="7175500"/>
            <a:ext cx="508000" cy="0"/>
          </a:xfrm>
          <a:prstGeom prst="straightConnector1">
            <a:avLst/>
          </a:prstGeom>
          <a:noFill/>
          <a:ln w="25400">
            <a:solidFill>
              <a:srgbClr val="003A70"/>
            </a:solidFill>
            <a:prstDash val="solid"/>
            <a:headEnd type="none"/>
            <a:tailEnd type="arrow"/>
          </a:ln>
        </p:spPr>
      </p:sp>
      <p:sp>
        <p:nvSpPr>
          <p:cNvPr id="26" name="Shape 23"/>
          <p:cNvSpPr/>
          <p:nvPr/>
        </p:nvSpPr>
        <p:spPr>
          <a:xfrm>
            <a:off x="6858000" y="68580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003A70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0" y="6858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Agregacao por Cliente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0160000" y="7175500"/>
            <a:ext cx="508000" cy="0"/>
          </a:xfrm>
          <a:prstGeom prst="straightConnector1">
            <a:avLst/>
          </a:prstGeom>
          <a:noFill/>
          <a:ln w="25400">
            <a:solidFill>
              <a:srgbClr val="003A70"/>
            </a:solidFill>
            <a:prstDash val="solid"/>
            <a:headEnd type="none"/>
            <a:tailEnd type="arrow"/>
          </a:ln>
        </p:spPr>
      </p:sp>
      <p:sp>
        <p:nvSpPr>
          <p:cNvPr id="29" name="Shape 26"/>
          <p:cNvSpPr/>
          <p:nvPr/>
        </p:nvSpPr>
        <p:spPr>
          <a:xfrm>
            <a:off x="10668000" y="6858000"/>
            <a:ext cx="2286000" cy="635000"/>
          </a:xfrm>
          <a:prstGeom prst="roundRect">
            <a:avLst>
              <a:gd name="adj" fmla="val 8000"/>
            </a:avLst>
          </a:prstGeom>
          <a:solidFill>
            <a:srgbClr val="003A70"/>
          </a:solidFill>
          <a:ln/>
        </p:spPr>
      </p:sp>
      <p:sp>
        <p:nvSpPr>
          <p:cNvPr id="30" name="Text 27"/>
          <p:cNvSpPr/>
          <p:nvPr/>
        </p:nvSpPr>
        <p:spPr>
          <a:xfrm>
            <a:off x="10668000" y="6858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Estatisticas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2954000" y="7175500"/>
            <a:ext cx="508000" cy="0"/>
          </a:xfrm>
          <a:prstGeom prst="straightConnector1">
            <a:avLst/>
          </a:prstGeom>
          <a:noFill/>
          <a:ln w="25400">
            <a:solidFill>
              <a:srgbClr val="003A70"/>
            </a:solidFill>
            <a:prstDash val="solid"/>
            <a:headEnd type="none"/>
            <a:tailEnd type="arrow"/>
          </a:ln>
        </p:spPr>
      </p:sp>
      <p:sp>
        <p:nvSpPr>
          <p:cNvPr id="32" name="Shape 29"/>
          <p:cNvSpPr/>
          <p:nvPr/>
        </p:nvSpPr>
        <p:spPr>
          <a:xfrm>
            <a:off x="13462000" y="6858000"/>
            <a:ext cx="2032000" cy="635000"/>
          </a:xfrm>
          <a:prstGeom prst="roundRect">
            <a:avLst>
              <a:gd name="adj" fmla="val 8000"/>
            </a:avLst>
          </a:prstGeom>
          <a:solidFill>
            <a:srgbClr val="C4911D"/>
          </a:solidFill>
          <a:ln/>
        </p:spPr>
      </p:sp>
      <p:sp>
        <p:nvSpPr>
          <p:cNvPr id="33" name="Text 30"/>
          <p:cNvSpPr/>
          <p:nvPr/>
        </p:nvSpPr>
        <p:spPr>
          <a:xfrm>
            <a:off x="13462000" y="6858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Visualizacoes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20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" y="50800"/>
            <a:ext cx="25019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INTRODUCAO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NORMALIZACAO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HIERARQUICA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63500" cy="4064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6858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Analise Exploratoria dos Dados - Questao 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62000" y="1905000"/>
            <a:ext cx="6858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Producoes da Analise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Estatisticas descritivas dos atributos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Histogramas de distribuicao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Boxplots para identificacao de outliers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Matriz de correlacao entre variaveis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Principais Achados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Forte concentracao de clientes com baixos valores de compra e poucos com valores extremamente elevados.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01000" y="1905000"/>
            <a:ext cx="7493000" cy="3746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5000" y="2032000"/>
            <a:ext cx="698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Atributos Mais Relevantes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55000" y="2489200"/>
            <a:ext cx="6985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Atributos mais relevantes para agrupamento: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recency_days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recencia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frequencia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monetary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valor gasto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total_quantity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quantidade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num_products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diversidade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9055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2000" y="5905500"/>
            <a:ext cx="63500" cy="11430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400" y="6007100"/>
            <a:ext cx="1422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Interpretacao: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variaveis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monetary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recency_days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formam a base do modelo RFM, amplamente utilizado em segmentacao de clientes. A presenca de outliers indica a necessidade de pre-processamento antes da clusterizacao.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73025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Correlacoes Observadas: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matriz de correlacao revelou relacoes esperadas entre as variaveis - clientes com maior frequencia tendem a gastar mais (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 x monetary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e a comprar maior quantidade (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 x total_quantity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). A variavel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recency_days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apresentou correlacao negativa com as demais, indicando que clientes mais recentes compram mais.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20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8EEF4"/>
            </a:gs>
            <a:gs pos="100000">
              <a:srgbClr val="F5F6F8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4445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762000" y="558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22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7876903" cy="455221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52214"/>
            <a:ext cx="7876902" cy="4577997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5096" y="1"/>
            <a:ext cx="8130903" cy="455221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5096" y="4530804"/>
            <a:ext cx="8130904" cy="45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46583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8EEF4"/>
            </a:gs>
            <a:gs pos="100000">
              <a:srgbClr val="F5F6F8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4445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762000" y="36068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61555" y="7090229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22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050" y="360680"/>
            <a:ext cx="11407503" cy="855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3182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E8EEF4"/>
            </a:gs>
            <a:gs pos="100000">
              <a:srgbClr val="F5F6F8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4445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62000" y="4572000"/>
            <a:ext cx="1016000" cy="635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82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Analise Visual e Clusterizacao K-Means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558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Investigacao visual de clusters e aplicacao do algoritmo K-Means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Shape 1"/>
          <p:cNvSpPr/>
          <p:nvPr/>
        </p:nvSpPr>
        <p:spPr>
          <a:xfrm>
            <a:off x="2806700" y="50800"/>
            <a:ext cx="25146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INTRODUCAO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NORMALIZACAO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HIERARQUICA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63500" cy="4064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6858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Analise Visual com Dois Atributos - Questao 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62000" y="137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2000" y="1905000"/>
            <a:ext cx="68580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Atributos Selecionados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recency_days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monetary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Justificativa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Baseado no modelo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RFM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amplamente utilizado em segmentacao de clientes.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Regioes Observadas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Clientes recentes com alto/baixo gasto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Clientes antigos com diferentes niveis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Grande sobreposicao entre grupos.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01000" y="1905000"/>
            <a:ext cx="7493000" cy="476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5000" y="2032000"/>
            <a:ext cx="698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Grafico de Dispersao: recency_days x monetary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55000" y="2489200"/>
            <a:ext cx="6985000" cy="4000500"/>
          </a:xfrm>
          <a:prstGeom prst="roundRect">
            <a:avLst>
              <a:gd name="adj" fmla="val 6000"/>
            </a:avLst>
          </a:prstGeom>
          <a:solidFill>
            <a:srgbClr val="E8EEF4"/>
          </a:solidFill>
          <a:ln w="12700"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5000" y="2489200"/>
            <a:ext cx="6985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Grafico de dispersao com pontos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coloridos pela variavel categorica (pais)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16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Eixo X: recency_days | Eixo Y: monetary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Cores: variavel categorica de referencia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1600"/>
              </a:spcBef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Observacoes: 3 regioes distintas,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 com sobreposicao significativa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883400"/>
            <a:ext cx="14732000" cy="111760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F0D7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000" y="6883400"/>
            <a:ext cx="63500" cy="11176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21" name="Text 19"/>
          <p:cNvSpPr/>
          <p:nvPr/>
        </p:nvSpPr>
        <p:spPr>
          <a:xfrm>
            <a:off x="1041400" y="6985000"/>
            <a:ext cx="1422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Conclusao: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Os dois atributos fornecem uma visao inicial importante, mas nao sao suficientes para representar toda a estrutura dos dados. Tornou-se necessaria a utilizacao de multiplos atributos nas etapas posteriores.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20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Shape 1"/>
          <p:cNvSpPr/>
          <p:nvPr/>
        </p:nvSpPr>
        <p:spPr>
          <a:xfrm>
            <a:off x="2806700" y="50800"/>
            <a:ext cx="25146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INTRODUCAO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NORMALIZACAO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HIERARQUICA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63500" cy="4064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6858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K-Means: Pre-processamento e Escolha do K - Q3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62000" y="137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2000" y="1905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" y="2032000"/>
            <a:ext cx="4241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Pre-processamento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0600" y="2463800"/>
            <a:ext cx="4241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Transformacao logaritmica (log1p)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Padronizacao (StandardScaler)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Necessario devido a grande diferenca de escala e assimetria nos dados.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715000" y="1905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032000"/>
            <a:ext cx="4241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Teste de Valores de 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0" y="2463800"/>
            <a:ext cx="4241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Avaliacao de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= 2 a 10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Criterios: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Metodo do Cotovelo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Silhouette Score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668000" y="1905000"/>
            <a:ext cx="4826000" cy="2540000"/>
          </a:xfrm>
          <a:prstGeom prst="roundRect">
            <a:avLst>
              <a:gd name="adj" fmla="val 8000"/>
            </a:avLst>
          </a:prstGeom>
          <a:solidFill>
            <a:srgbClr val="003A70"/>
          </a:solidFill>
          <a:ln/>
        </p:spPr>
      </p:sp>
      <p:sp>
        <p:nvSpPr>
          <p:cNvPr id="21" name="Text 19"/>
          <p:cNvSpPr/>
          <p:nvPr/>
        </p:nvSpPr>
        <p:spPr>
          <a:xfrm>
            <a:off x="10896600" y="2032000"/>
            <a:ext cx="4368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Melhor Resultado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896600" y="2540000"/>
            <a:ext cx="4368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= 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0896600" y="3302000"/>
            <a:ext cx="4368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Silhouette = </a:t>
            </a: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0,3187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62000" y="450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 do Cotovelo</a:t>
            </a:r>
            <a:endParaRPr lang="en-US" sz="2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762000" y="4953000"/>
          <a:ext cx="7112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8382000" y="450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Silhouette Score por K</a:t>
            </a:r>
            <a:endParaRPr lang="en-US" sz="220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8382000" y="4953000"/>
          <a:ext cx="7112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20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Shape 1"/>
          <p:cNvSpPr/>
          <p:nvPr/>
        </p:nvSpPr>
        <p:spPr>
          <a:xfrm>
            <a:off x="2806700" y="50800"/>
            <a:ext cx="25146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INTRODUCAO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NORMALIZACAO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HIERARQUICA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63500" cy="4064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6858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K-Means: Resultados e Interpretacao - Q3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62000" y="1371600"/>
            <a:ext cx="685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Visualizacoes Geradas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Visualizacao 2D dos clusters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Visualizacao via PCA (2 componentes)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Crosstab clusters x variavel de referencia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Interpretacao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Agrupamentos refletem padroes de comportamento de compra.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01000" y="1371600"/>
            <a:ext cx="7493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5000" y="1473200"/>
            <a:ext cx="698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Crosstab: Clusters x Pais (exemplo)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0" y="1879600"/>
          <a:ext cx="6985000" cy="2260600"/>
        </p:xfrm>
        <a:graphic>
          <a:graphicData uri="http://schemas.openxmlformats.org/drawingml/2006/table">
            <a:tbl>
              <a:tblPr/>
              <a:tblGrid>
                <a:gridCol w="2095500"/>
                <a:gridCol w="1606550"/>
                <a:gridCol w="1606550"/>
                <a:gridCol w="1676400"/>
              </a:tblGrid>
              <a:tr h="5651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Pais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Cluster 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Cluster 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United Kingdom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65%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35%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Outros paises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42%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58%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 geral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~55%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~45%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62000" y="45085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2000" y="4508500"/>
            <a:ext cx="63500" cy="16510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8" name="Text 15"/>
          <p:cNvSpPr/>
          <p:nvPr/>
        </p:nvSpPr>
        <p:spPr>
          <a:xfrm>
            <a:off x="1041400" y="46355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Discussao: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Embora exista alguma relacao com os paises dos consumidores, os clusters parecem estar mais associados a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frequencia de compra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gasto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diversidade de produtos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adquiridos. Isso indica que o K-Means encontrou grupos baseados principalmente no comportamento de compra, nao apenas na localizacao geografica.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62000" y="6223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62000" y="66548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613400" y="6324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Distribuicao dos Clusters</a:t>
            </a:r>
            <a:endParaRPr lang="en-US" sz="220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157629811"/>
              </p:ext>
            </p:extLst>
          </p:nvPr>
        </p:nvGraphicFramePr>
        <p:xfrm>
          <a:off x="3796937" y="6819900"/>
          <a:ext cx="71120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20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8EEF4"/>
            </a:gs>
            <a:gs pos="100000">
              <a:srgbClr val="F5F6F8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4445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762000" y="482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558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22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89520" cy="914400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0"/>
            <a:ext cx="8659223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9855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1">
          <a:gsLst>
            <a:gs pos="0">
              <a:srgbClr val="E8EEF4"/>
            </a:gs>
            <a:gs pos="100000">
              <a:srgbClr val="F5F6F8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4445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62000" y="4572000"/>
            <a:ext cx="1016000" cy="635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82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Comparacao K-Means vs DBSCAN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558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Analise comparativa entre algoritmos baseados em distancia e densidade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Shape 1"/>
          <p:cNvSpPr/>
          <p:nvPr/>
        </p:nvSpPr>
        <p:spPr>
          <a:xfrm>
            <a:off x="5524500" y="50800"/>
            <a:ext cx="25019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INTRODUCAO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NORMALIZACAO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HIERARQUICA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63500" cy="4064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6858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 vs DBSCAN - Questao 4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62000" y="1905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1905000"/>
            <a:ext cx="7112000" cy="5080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1905000"/>
            <a:ext cx="711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0600" y="2540000"/>
            <a:ext cx="66548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Caracteristicas: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Necessita definicao previa de K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Baseado em distancia (centroides)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Nao identifica ruidos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clusters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1905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2000" y="1905000"/>
            <a:ext cx="7112000" cy="5080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1905000"/>
            <a:ext cx="711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10600" y="2540000"/>
            <a:ext cx="66548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Caracteristicas: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Baseado em densidade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Nao exige informar K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 ruidos automaticamente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cluster + 97 ruidos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5334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" y="5435600"/>
            <a:ext cx="665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Parametros DBSCAN: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eps =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1,5589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min_samples =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Definidos via grafico k-distance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382000" y="5334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5143500"/>
          <a:ext cx="7112000" cy="1270000"/>
        </p:xfrm>
        <a:graphic>
          <a:graphicData uri="http://schemas.openxmlformats.org/drawingml/2006/table">
            <a:tbl>
              <a:tblPr/>
              <a:tblGrid>
                <a:gridCol w="2844800"/>
                <a:gridCol w="2133600"/>
                <a:gridCol w="213360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Criterio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K-Means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DBSCAN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Clusters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Ruidos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97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762000" y="6934200"/>
            <a:ext cx="14732000" cy="111760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F0D78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2000" y="6934200"/>
            <a:ext cx="63500" cy="11176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28" name="Text 25"/>
          <p:cNvSpPr/>
          <p:nvPr/>
        </p:nvSpPr>
        <p:spPr>
          <a:xfrm>
            <a:off x="1041400" y="7035800"/>
            <a:ext cx="1422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Conclusao: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DBSCAN conseguiu identificar observacoes atipicas, porem encontrou apenas um agrupamento principal. O K-Means produziu uma segmentacao mais interpretavel para analise de clientes, apresentando resultado mais coerente para este dataset.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20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1">
          <a:gsLst>
            <a:gs pos="0">
              <a:srgbClr val="E8EEF4"/>
            </a:gs>
            <a:gs pos="100000">
              <a:srgbClr val="F5F6F8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4445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62000" y="4572000"/>
            <a:ext cx="1016000" cy="635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82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da Normalizacao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558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Investigacao do efeito da normalizacao na qualidade da clusterizacao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Shape 1"/>
          <p:cNvSpPr/>
          <p:nvPr/>
        </p:nvSpPr>
        <p:spPr>
          <a:xfrm>
            <a:off x="8242300" y="50800"/>
            <a:ext cx="24892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INTRODUCAO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NORMALIZACAO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HIERARQUICA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63500" cy="4064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6858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da Normalizacao - Questao 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62000" y="137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2000" y="190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Tres Abordagens Comparadas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62000" y="23876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0600" y="2489200"/>
            <a:ext cx="38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22400" y="24892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 normalizacao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Dados brutos, variaveis de maior magnitude dominam o calculo das distancias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715000" y="23876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489200"/>
            <a:ext cx="38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75400" y="24892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Log1p + StandardScaler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Transformacao logaritmica + padronizacao Z-score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68000" y="238760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96600" y="2489200"/>
            <a:ext cx="431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328400" y="24892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Log1p + MinMaxScaler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Transformacao logaritmica + normalizacao Min-Max [0,1]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419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 Comparativos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673600"/>
          <a:ext cx="14732000" cy="1778000"/>
        </p:xfrm>
        <a:graphic>
          <a:graphicData uri="http://schemas.openxmlformats.org/drawingml/2006/table">
            <a:tbl>
              <a:tblPr/>
              <a:tblGrid>
                <a:gridCol w="4124960"/>
                <a:gridCol w="2651760"/>
                <a:gridCol w="2651760"/>
                <a:gridCol w="2651760"/>
                <a:gridCol w="265176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Abordagem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Melhor 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Silhouette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Clusters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Equilibrio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Sem normalizacao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4911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0,9829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Baixo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Log1p + StandardScaler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0,3187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Log1p + MinMaxScaler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0,2891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762000" y="6756400"/>
            <a:ext cx="14732000" cy="1473200"/>
          </a:xfrm>
          <a:prstGeom prst="roundRect">
            <a:avLst>
              <a:gd name="adj" fmla="val 6000"/>
            </a:avLst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2000" y="6756400"/>
            <a:ext cx="63500" cy="1473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8" name="Text 25"/>
          <p:cNvSpPr/>
          <p:nvPr/>
        </p:nvSpPr>
        <p:spPr>
          <a:xfrm>
            <a:off x="1041400" y="6858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Discussao: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maior Silhouette sem normalizacao (0,9829) indica que variaveis de maior magnitude exercem forte influencia. Os cenarios normalizados apresentaram valores menores, mas produziram agrupamentos mais equilibrados. A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normalizacao continua sendo pratica recomendada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analise de comportamento dos clientes.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20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flip="none" rotWithShape="1">
          <a:gsLst>
            <a:gs pos="0">
              <a:srgbClr val="E8EEF4"/>
            </a:gs>
            <a:gs pos="100000">
              <a:srgbClr val="F5F6F8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4445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62000" y="4572000"/>
            <a:ext cx="1016000" cy="635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82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Clusterizacao Hierarquica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558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Validacao visual dos agrupamentos atraves de dendrogramas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Shape 1"/>
          <p:cNvSpPr/>
          <p:nvPr/>
        </p:nvSpPr>
        <p:spPr>
          <a:xfrm>
            <a:off x="10960100" y="50800"/>
            <a:ext cx="24765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INTRODUCAO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NORMALIZACAO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HIERARQUICA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63500" cy="4064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6858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Clusterizacao Hierarquica e Dendrograma - Q6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62000" y="137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2000" y="1432197"/>
            <a:ext cx="685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Metodos de Ligacao Testados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Linkage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distancia minima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Linkage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distancia maxima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Linkage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distancia media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Pre-processamento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Transformacao logaritmica + normalizacao aplicadas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09300" y="1264013"/>
            <a:ext cx="7493000" cy="1465218"/>
          </a:xfrm>
          <a:prstGeom prst="roundRect">
            <a:avLst>
              <a:gd name="adj" fmla="val 8000"/>
            </a:avLst>
          </a:prstGeom>
          <a:solidFill>
            <a:srgbClr val="003A70"/>
          </a:solidFill>
          <a:ln/>
        </p:spPr>
      </p:sp>
      <p:sp>
        <p:nvSpPr>
          <p:cNvPr id="16" name="Text 14"/>
          <p:cNvSpPr/>
          <p:nvPr/>
        </p:nvSpPr>
        <p:spPr>
          <a:xfrm>
            <a:off x="8255000" y="1454150"/>
            <a:ext cx="698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Melhor Resultado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63300" y="1809569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Linkage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55000" y="2266769"/>
            <a:ext cx="698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Silhouette Score =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0,7204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Clusters sugeridos =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09300" y="2802345"/>
            <a:ext cx="7493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0" y="2858408"/>
            <a:ext cx="698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Analise do Dendrograma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28000" y="3225166"/>
            <a:ext cx="698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Dendrogramas sugerem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clusters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coincidindo com K-Means.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5207000"/>
            <a:ext cx="14732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52070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2886" y="8296821"/>
            <a:ext cx="14732000" cy="508000"/>
          </a:xfrm>
          <a:prstGeom prst="roundRect">
            <a:avLst>
              <a:gd name="adj" fmla="val 6000"/>
            </a:avLst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0600" y="8248469"/>
            <a:ext cx="14274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Conclusao: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analise hierarquica confirmou os resultados anteriores e serviu como validacao visual da clusterizacao com K=2.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20</a:t>
            </a:r>
            <a:endParaRPr lang="en-US" sz="1300" dirty="0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4353197"/>
            <a:ext cx="14507029" cy="383213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flip="none" rotWithShape="1">
          <a:gsLst>
            <a:gs pos="0">
              <a:srgbClr val="E8EEF4"/>
            </a:gs>
            <a:gs pos="100000">
              <a:srgbClr val="F5F6F8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4445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62000" y="4572000"/>
            <a:ext cx="1016000" cy="635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82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 e Classificacao Supervisionada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558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Avaliacao do impacto da reducao de dimensionalidade em classificacao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Shape 1"/>
          <p:cNvSpPr/>
          <p:nvPr/>
        </p:nvSpPr>
        <p:spPr>
          <a:xfrm>
            <a:off x="13652500" y="50800"/>
            <a:ext cx="25019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INTRODUCAO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NORMALIZACAO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HIERARQUICA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"/>
            <a:ext cx="63500" cy="4064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6858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 e Classificacao com KNN - Questao 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62000" y="137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2000" y="1968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" y="2070100"/>
            <a:ext cx="4241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Pre-processamento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0600" y="2476500"/>
            <a:ext cx="4241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Transformacao logaritmica + StandardScaler (Z-score)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715000" y="1968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003A7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070100"/>
            <a:ext cx="4241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Reducao PCA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0" y="2540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atributos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01000" y="2730500"/>
            <a:ext cx="508000" cy="0"/>
          </a:xfrm>
          <a:prstGeom prst="straightConnector1">
            <a:avLst/>
          </a:prstGeom>
          <a:noFill/>
          <a:ln w="25400">
            <a:solidFill>
              <a:srgbClr val="FFFFFF">
                <a:alpha val="50196"/>
              </a:srgbClr>
            </a:solidFill>
            <a:prstDash val="solid"/>
            <a:headEnd type="none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8509000" y="2540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componentes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0" y="3048000"/>
            <a:ext cx="4241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Variancia preservada: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99,40%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668000" y="196850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96600" y="2070100"/>
            <a:ext cx="4368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Classificador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896600" y="2476500"/>
            <a:ext cx="4368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Algoritmo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KNN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(K-Nearest Neighbors)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Comparacao: dados originais vs reduzidos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2000" y="3810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Comparacao de Desempenho: Sem PCA vs Com PCA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62000" y="4318000"/>
            <a:ext cx="7112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000" y="4318000"/>
            <a:ext cx="711200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43180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 PCA (7 atributos)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4902200"/>
            <a:ext cx="711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0,8971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62000" y="5715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Acuracia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382000" y="4318000"/>
            <a:ext cx="7112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82000" y="4318000"/>
            <a:ext cx="7112000" cy="457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0" y="43180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 PCA (5 componentes)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82000" y="4902200"/>
            <a:ext cx="711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0,8963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8382000" y="5715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Acuracia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62000" y="6883400"/>
            <a:ext cx="14732000" cy="8382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2000" y="6883400"/>
            <a:ext cx="63500" cy="8382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39" name="Text 37"/>
          <p:cNvSpPr/>
          <p:nvPr/>
        </p:nvSpPr>
        <p:spPr>
          <a:xfrm>
            <a:off x="1041400" y="6883400"/>
            <a:ext cx="1422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Diferenca: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-0,0008 (reducao de apenas 0,09%) |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Conclusao: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PCA mostrou-se eficiente, reduzindo a dimensionalidade sem perda significativa de desempenho.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/ 20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INTRODUCAO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NORMALIZACAO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HIERARQUICA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711200"/>
            <a:ext cx="63500" cy="4064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6858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Conclusoes Finais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3970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003A70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1397000"/>
            <a:ext cx="14274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 objetivos propostos pela atividade foram alcancados com sucesso.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2286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600" y="2413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90600" y="2921000"/>
            <a:ext cx="4241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Analise Exploratoria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 dos dados compreendida e problemas tratados antes da clusterizacao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15000" y="2286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413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921000"/>
            <a:ext cx="4241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Melhor desempenho geral: K=2 clusters principais identificados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68000" y="2286000"/>
            <a:ext cx="4826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96600" y="2413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896600" y="2921000"/>
            <a:ext cx="4368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 para identificacao de ruidos, mas menor capacidade de segmentacao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4508500"/>
            <a:ext cx="7112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" y="4635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90600" y="5143500"/>
            <a:ext cx="6654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Clusterizacao Hierarquica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Confirmou a existencia de aproximadamente 2 grupos naturais, validando o K-Means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82000" y="4508500"/>
            <a:ext cx="7112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10600" y="4635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610600" y="5143500"/>
            <a:ext cx="6654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Reduziu dimensionalidade (7-&gt;5) mantendo 99,40% da variancia e sem alterar desempenho do KNN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2000" y="6756400"/>
            <a:ext cx="14732000" cy="1473200"/>
          </a:xfrm>
          <a:prstGeom prst="roundRect">
            <a:avLst>
              <a:gd name="adj" fmla="val 6000"/>
            </a:avLst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" y="6756400"/>
            <a:ext cx="63500" cy="1473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0" name="Text 28"/>
          <p:cNvSpPr/>
          <p:nvPr/>
        </p:nvSpPr>
        <p:spPr>
          <a:xfrm>
            <a:off x="1041400" y="6858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Sintese: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analise completa demonstrou que o dataset Online Retail possui uma estrutura natural de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grupos principais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clientes, distinguiveis por padroes de comportamento de compra. Todas as tecnicas aplicadas (K-Means, DBSCAN, Hierarquica, PCA) convergiram para essa mesma conclusao, reforcando a robustez dos resultados.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/ 20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INTRODUCAO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NORMALIZACAO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HIERARQUICA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711200"/>
            <a:ext cx="63500" cy="4064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6858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Proximos Passos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397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Como continuidade deste trabalho, recomenda-se as seguintes etapas: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2032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0600" y="2184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72231" y="150019"/>
                </a:moveTo>
                <a:lnTo>
                  <a:pt x="72231" y="194469"/>
                </a:lnTo>
                <a:cubicBezTo>
                  <a:pt x="72231" y="203706"/>
                  <a:pt x="79663" y="211138"/>
                  <a:pt x="88900" y="211138"/>
                </a:cubicBezTo>
                <a:cubicBezTo>
                  <a:pt x="98137" y="211138"/>
                  <a:pt x="105569" y="203706"/>
                  <a:pt x="105569" y="194469"/>
                </a:cubicBezTo>
                <a:lnTo>
                  <a:pt x="105569" y="150019"/>
                </a:lnTo>
                <a:cubicBezTo>
                  <a:pt x="105569" y="140781"/>
                  <a:pt x="98137" y="133350"/>
                  <a:pt x="88900" y="133350"/>
                </a:cubicBezTo>
                <a:cubicBezTo>
                  <a:pt x="79663" y="133350"/>
                  <a:pt x="72231" y="140781"/>
                  <a:pt x="72231" y="150019"/>
                </a:cubicBezTo>
                <a:close/>
                <a:moveTo>
                  <a:pt x="127794" y="83344"/>
                </a:moveTo>
                <a:lnTo>
                  <a:pt x="127794" y="194469"/>
                </a:lnTo>
                <a:cubicBezTo>
                  <a:pt x="127794" y="203706"/>
                  <a:pt x="135225" y="211138"/>
                  <a:pt x="144463" y="211138"/>
                </a:cubicBezTo>
                <a:cubicBezTo>
                  <a:pt x="153700" y="211138"/>
                  <a:pt x="161131" y="203706"/>
                  <a:pt x="161131" y="194469"/>
                </a:cubicBezTo>
                <a:lnTo>
                  <a:pt x="161131" y="83344"/>
                </a:lnTo>
                <a:cubicBezTo>
                  <a:pt x="161131" y="74106"/>
                  <a:pt x="153700" y="66675"/>
                  <a:pt x="144463" y="66675"/>
                </a:cubicBezTo>
                <a:cubicBezTo>
                  <a:pt x="135225" y="66675"/>
                  <a:pt x="127794" y="74106"/>
                  <a:pt x="127794" y="83344"/>
                </a:cubicBezTo>
                <a:close/>
                <a:moveTo>
                  <a:pt x="183356" y="127794"/>
                </a:moveTo>
                <a:lnTo>
                  <a:pt x="183356" y="194469"/>
                </a:lnTo>
                <a:cubicBezTo>
                  <a:pt x="183356" y="203706"/>
                  <a:pt x="190788" y="211138"/>
                  <a:pt x="200025" y="211138"/>
                </a:cubicBezTo>
                <a:cubicBezTo>
                  <a:pt x="209262" y="211138"/>
                  <a:pt x="216694" y="203706"/>
                  <a:pt x="216694" y="194469"/>
                </a:cubicBezTo>
                <a:lnTo>
                  <a:pt x="216694" y="127794"/>
                </a:lnTo>
                <a:cubicBezTo>
                  <a:pt x="216694" y="118556"/>
                  <a:pt x="209262" y="111125"/>
                  <a:pt x="200025" y="111125"/>
                </a:cubicBezTo>
                <a:cubicBezTo>
                  <a:pt x="190788" y="111125"/>
                  <a:pt x="183356" y="118556"/>
                  <a:pt x="183356" y="127794"/>
                </a:cubicBezTo>
                <a:close/>
              </a:path>
            </a:pathLst>
          </a:custGeom>
          <a:solidFill>
            <a:srgbClr val="003A70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2616200"/>
            <a:ext cx="4241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Deteccao de Anomalias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Tecnicas avancadas para identificar outliers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15000" y="2032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184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6336" y="166688"/>
                </a:moveTo>
                <a:lnTo>
                  <a:pt x="207680" y="166688"/>
                </a:lnTo>
                <a:cubicBezTo>
                  <a:pt x="196753" y="166688"/>
                  <a:pt x="187925" y="156756"/>
                  <a:pt x="187925" y="144463"/>
                </a:cubicBezTo>
                <a:lnTo>
                  <a:pt x="187925" y="22225"/>
                </a:lnTo>
                <a:cubicBezTo>
                  <a:pt x="187925" y="9932"/>
                  <a:pt x="196815" y="-139"/>
                  <a:pt x="207619" y="1459"/>
                </a:cubicBezTo>
                <a:cubicBezTo>
                  <a:pt x="273676" y="11321"/>
                  <a:pt x="326028" y="70217"/>
                  <a:pt x="334795" y="144532"/>
                </a:cubicBezTo>
                <a:cubicBezTo>
                  <a:pt x="336215" y="156686"/>
                  <a:pt x="327263" y="166688"/>
                  <a:pt x="316336" y="166688"/>
                </a:cubicBezTo>
                <a:close/>
                <a:moveTo>
                  <a:pt x="137425" y="25837"/>
                </a:moveTo>
                <a:cubicBezTo>
                  <a:pt x="148599" y="23197"/>
                  <a:pt x="158291" y="33476"/>
                  <a:pt x="158291" y="46325"/>
                </a:cubicBezTo>
                <a:lnTo>
                  <a:pt x="158291" y="183356"/>
                </a:lnTo>
                <a:cubicBezTo>
                  <a:pt x="158291" y="187246"/>
                  <a:pt x="159526" y="190996"/>
                  <a:pt x="161687" y="193983"/>
                </a:cubicBezTo>
                <a:lnTo>
                  <a:pt x="243240" y="304691"/>
                </a:lnTo>
                <a:cubicBezTo>
                  <a:pt x="250463" y="314484"/>
                  <a:pt x="248920" y="329277"/>
                  <a:pt x="238980" y="335320"/>
                </a:cubicBezTo>
                <a:cubicBezTo>
                  <a:pt x="217928" y="348238"/>
                  <a:pt x="193790" y="355600"/>
                  <a:pt x="168169" y="355600"/>
                </a:cubicBezTo>
                <a:cubicBezTo>
                  <a:pt x="86369" y="355600"/>
                  <a:pt x="20003" y="280938"/>
                  <a:pt x="20003" y="188913"/>
                </a:cubicBezTo>
                <a:cubicBezTo>
                  <a:pt x="20003" y="108694"/>
                  <a:pt x="70317" y="41741"/>
                  <a:pt x="137425" y="25837"/>
                </a:cubicBezTo>
                <a:close/>
                <a:moveTo>
                  <a:pt x="294975" y="200025"/>
                </a:moveTo>
                <a:lnTo>
                  <a:pt x="334486" y="200025"/>
                </a:lnTo>
                <a:cubicBezTo>
                  <a:pt x="345907" y="200025"/>
                  <a:pt x="355044" y="210929"/>
                  <a:pt x="352698" y="223500"/>
                </a:cubicBezTo>
                <a:cubicBezTo>
                  <a:pt x="346401" y="257115"/>
                  <a:pt x="331091" y="286980"/>
                  <a:pt x="309730" y="309761"/>
                </a:cubicBezTo>
                <a:cubicBezTo>
                  <a:pt x="302137" y="317887"/>
                  <a:pt x="290221" y="316151"/>
                  <a:pt x="283554" y="307052"/>
                </a:cubicBezTo>
                <a:lnTo>
                  <a:pt x="231449" y="236418"/>
                </a:lnTo>
                <a:cubicBezTo>
                  <a:pt x="220768" y="221903"/>
                  <a:pt x="229967" y="200025"/>
                  <a:pt x="246636" y="200025"/>
                </a:cubicBezTo>
                <a:lnTo>
                  <a:pt x="294913" y="200025"/>
                </a:lnTo>
                <a:close/>
              </a:path>
            </a:pathLst>
          </a:custGeom>
          <a:solidFill>
            <a:srgbClr val="003A7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616200"/>
            <a:ext cx="4241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Gaussian Mixture Models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Testar modelos probabilisticos de clusterizacao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68000" y="2032000"/>
            <a:ext cx="4826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96600" y="2184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13266" y="44450"/>
                  <a:pt x="5140" y="49867"/>
                  <a:pt x="1667" y="58202"/>
                </a:cubicBezTo>
                <a:cubicBezTo>
                  <a:pt x="-1806" y="66536"/>
                  <a:pt x="139" y="76051"/>
                  <a:pt x="6529" y="82371"/>
                </a:cubicBezTo>
                <a:lnTo>
                  <a:pt x="133350" y="209262"/>
                </a:lnTo>
                <a:lnTo>
                  <a:pt x="133350" y="288925"/>
                </a:lnTo>
                <a:cubicBezTo>
                  <a:pt x="133350" y="294829"/>
                  <a:pt x="135711" y="300454"/>
                  <a:pt x="139879" y="304621"/>
                </a:cubicBezTo>
                <a:lnTo>
                  <a:pt x="184329" y="349071"/>
                </a:lnTo>
                <a:cubicBezTo>
                  <a:pt x="190718" y="355461"/>
                  <a:pt x="200233" y="357336"/>
                  <a:pt x="208568" y="353864"/>
                </a:cubicBezTo>
                <a:cubicBezTo>
                  <a:pt x="216902" y="350391"/>
                  <a:pt x="222250" y="342334"/>
                  <a:pt x="222250" y="333375"/>
                </a:cubicBezTo>
                <a:lnTo>
                  <a:pt x="222250" y="209262"/>
                </a:lnTo>
                <a:lnTo>
                  <a:pt x="349071" y="82441"/>
                </a:lnTo>
                <a:cubicBezTo>
                  <a:pt x="355461" y="76051"/>
                  <a:pt x="357336" y="66536"/>
                  <a:pt x="353864" y="58202"/>
                </a:cubicBezTo>
                <a:cubicBezTo>
                  <a:pt x="350391" y="49867"/>
                  <a:pt x="342334" y="44450"/>
                  <a:pt x="333375" y="44450"/>
                </a:cubicBezTo>
                <a:lnTo>
                  <a:pt x="22225" y="44450"/>
                </a:lnTo>
                <a:close/>
              </a:path>
            </a:pathLst>
          </a:custGeom>
          <a:solidFill>
            <a:srgbClr val="003A70"/>
          </a:solidFill>
          <a:ln/>
        </p:spPr>
      </p:sp>
      <p:sp>
        <p:nvSpPr>
          <p:cNvPr id="20" name="Text 18"/>
          <p:cNvSpPr/>
          <p:nvPr/>
        </p:nvSpPr>
        <p:spPr>
          <a:xfrm>
            <a:off x="10896600" y="2616200"/>
            <a:ext cx="4368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Selecao de Atributos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Identificar variaveis mais discriminativas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4000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0600" y="415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22225"/>
                </a:moveTo>
                <a:cubicBezTo>
                  <a:pt x="127917" y="22225"/>
                  <a:pt x="87974" y="47784"/>
                  <a:pt x="58896" y="78204"/>
                </a:cubicBezTo>
                <a:cubicBezTo>
                  <a:pt x="30004" y="108416"/>
                  <a:pt x="10680" y="144463"/>
                  <a:pt x="1482" y="169257"/>
                </a:cubicBezTo>
                <a:cubicBezTo>
                  <a:pt x="-556" y="174744"/>
                  <a:pt x="-556" y="180856"/>
                  <a:pt x="1482" y="186343"/>
                </a:cubicBezTo>
                <a:cubicBezTo>
                  <a:pt x="10680" y="211138"/>
                  <a:pt x="30004" y="247253"/>
                  <a:pt x="58896" y="277396"/>
                </a:cubicBezTo>
                <a:cubicBezTo>
                  <a:pt x="87974" y="307747"/>
                  <a:pt x="127917" y="333375"/>
                  <a:pt x="177800" y="333375"/>
                </a:cubicBezTo>
                <a:cubicBezTo>
                  <a:pt x="227683" y="333375"/>
                  <a:pt x="267626" y="307816"/>
                  <a:pt x="296704" y="277396"/>
                </a:cubicBezTo>
                <a:cubicBezTo>
                  <a:pt x="325596" y="247184"/>
                  <a:pt x="344920" y="211138"/>
                  <a:pt x="354118" y="186343"/>
                </a:cubicBezTo>
                <a:cubicBezTo>
                  <a:pt x="356156" y="180856"/>
                  <a:pt x="356156" y="174744"/>
                  <a:pt x="354118" y="169257"/>
                </a:cubicBezTo>
                <a:cubicBezTo>
                  <a:pt x="344920" y="144462"/>
                  <a:pt x="325596" y="108347"/>
                  <a:pt x="296704" y="78204"/>
                </a:cubicBezTo>
                <a:cubicBezTo>
                  <a:pt x="267626" y="47853"/>
                  <a:pt x="227683" y="22225"/>
                  <a:pt x="177800" y="22225"/>
                </a:cubicBezTo>
                <a:close/>
                <a:moveTo>
                  <a:pt x="88900" y="177800"/>
                </a:moveTo>
                <a:cubicBezTo>
                  <a:pt x="88900" y="122602"/>
                  <a:pt x="128735" y="77788"/>
                  <a:pt x="177800" y="77788"/>
                </a:cubicBezTo>
                <a:cubicBezTo>
                  <a:pt x="226865" y="77788"/>
                  <a:pt x="266700" y="122602"/>
                  <a:pt x="266700" y="177800"/>
                </a:cubicBezTo>
                <a:cubicBezTo>
                  <a:pt x="266700" y="232998"/>
                  <a:pt x="226865" y="277813"/>
                  <a:pt x="177800" y="277813"/>
                </a:cubicBezTo>
                <a:cubicBezTo>
                  <a:pt x="128735" y="277813"/>
                  <a:pt x="88900" y="232998"/>
                  <a:pt x="88900" y="177800"/>
                </a:cubicBezTo>
                <a:close/>
                <a:moveTo>
                  <a:pt x="177800" y="133350"/>
                </a:moveTo>
                <a:cubicBezTo>
                  <a:pt x="177800" y="157867"/>
                  <a:pt x="160082" y="177800"/>
                  <a:pt x="138289" y="177800"/>
                </a:cubicBezTo>
                <a:cubicBezTo>
                  <a:pt x="131189" y="177800"/>
                  <a:pt x="124522" y="175716"/>
                  <a:pt x="118719" y="171966"/>
                </a:cubicBezTo>
                <a:cubicBezTo>
                  <a:pt x="118101" y="179536"/>
                  <a:pt x="118657" y="187315"/>
                  <a:pt x="120509" y="195024"/>
                </a:cubicBezTo>
                <a:cubicBezTo>
                  <a:pt x="128967" y="230584"/>
                  <a:pt x="161502" y="251698"/>
                  <a:pt x="193111" y="242183"/>
                </a:cubicBezTo>
                <a:cubicBezTo>
                  <a:pt x="224719" y="232668"/>
                  <a:pt x="243487" y="196066"/>
                  <a:pt x="235029" y="160506"/>
                </a:cubicBezTo>
                <a:cubicBezTo>
                  <a:pt x="227498" y="128766"/>
                  <a:pt x="200766" y="108555"/>
                  <a:pt x="172614" y="111333"/>
                </a:cubicBezTo>
                <a:cubicBezTo>
                  <a:pt x="175886" y="117793"/>
                  <a:pt x="177800" y="125293"/>
                  <a:pt x="177800" y="133350"/>
                </a:cubicBezTo>
                <a:close/>
              </a:path>
            </a:pathLst>
          </a:custGeom>
          <a:solidFill>
            <a:srgbClr val="003A70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4584700"/>
            <a:ext cx="4241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UMAP e t-SNE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Visualizacoes nao-lineares avancadas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715000" y="4000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415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0318" y="13127"/>
                </a:moveTo>
                <a:cubicBezTo>
                  <a:pt x="328305" y="16669"/>
                  <a:pt x="333375" y="24586"/>
                  <a:pt x="333375" y="33337"/>
                </a:cubicBezTo>
                <a:lnTo>
                  <a:pt x="333375" y="322263"/>
                </a:lnTo>
                <a:cubicBezTo>
                  <a:pt x="333375" y="331014"/>
                  <a:pt x="328305" y="338931"/>
                  <a:pt x="320318" y="342473"/>
                </a:cubicBezTo>
                <a:cubicBezTo>
                  <a:pt x="312331" y="346015"/>
                  <a:pt x="303093" y="344696"/>
                  <a:pt x="296495" y="338931"/>
                </a:cubicBezTo>
                <a:lnTo>
                  <a:pt x="264130" y="310664"/>
                </a:lnTo>
                <a:cubicBezTo>
                  <a:pt x="233849" y="284202"/>
                  <a:pt x="195580" y="268784"/>
                  <a:pt x="155506" y="266908"/>
                </a:cubicBezTo>
                <a:lnTo>
                  <a:pt x="155506" y="333375"/>
                </a:lnTo>
                <a:cubicBezTo>
                  <a:pt x="155506" y="345668"/>
                  <a:pt x="145574" y="355600"/>
                  <a:pt x="133281" y="355600"/>
                </a:cubicBezTo>
                <a:lnTo>
                  <a:pt x="111056" y="355600"/>
                </a:lnTo>
                <a:cubicBezTo>
                  <a:pt x="98762" y="355600"/>
                  <a:pt x="88831" y="345668"/>
                  <a:pt x="88831" y="333375"/>
                </a:cubicBezTo>
                <a:lnTo>
                  <a:pt x="88831" y="266700"/>
                </a:lnTo>
                <a:cubicBezTo>
                  <a:pt x="39797" y="266700"/>
                  <a:pt x="0" y="226903"/>
                  <a:pt x="0" y="177800"/>
                </a:cubicBezTo>
                <a:cubicBezTo>
                  <a:pt x="0" y="128697"/>
                  <a:pt x="39797" y="88900"/>
                  <a:pt x="88900" y="88900"/>
                </a:cubicBezTo>
                <a:lnTo>
                  <a:pt x="147588" y="88900"/>
                </a:lnTo>
                <a:cubicBezTo>
                  <a:pt x="190510" y="88761"/>
                  <a:pt x="231904" y="73134"/>
                  <a:pt x="264200" y="44936"/>
                </a:cubicBezTo>
                <a:lnTo>
                  <a:pt x="296565" y="16669"/>
                </a:lnTo>
                <a:cubicBezTo>
                  <a:pt x="303093" y="10904"/>
                  <a:pt x="312470" y="9585"/>
                  <a:pt x="320387" y="13127"/>
                </a:cubicBezTo>
                <a:close/>
                <a:moveTo>
                  <a:pt x="155575" y="222250"/>
                </a:moveTo>
                <a:lnTo>
                  <a:pt x="155575" y="222389"/>
                </a:lnTo>
                <a:cubicBezTo>
                  <a:pt x="204401" y="224264"/>
                  <a:pt x="251281" y="242183"/>
                  <a:pt x="288925" y="273368"/>
                </a:cubicBezTo>
                <a:lnTo>
                  <a:pt x="288925" y="82163"/>
                </a:lnTo>
                <a:cubicBezTo>
                  <a:pt x="251281" y="113348"/>
                  <a:pt x="204401" y="131266"/>
                  <a:pt x="155575" y="133142"/>
                </a:cubicBezTo>
                <a:lnTo>
                  <a:pt x="155575" y="222250"/>
                </a:lnTo>
                <a:close/>
              </a:path>
            </a:pathLst>
          </a:custGeom>
          <a:solidFill>
            <a:srgbClr val="003A70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4584700"/>
            <a:ext cx="4241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de Segmentacao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Construir sistema real para campanhas de marketing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668000" y="4000500"/>
            <a:ext cx="4826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96600" y="415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073" y="1250"/>
                </a:moveTo>
                <a:cubicBezTo>
                  <a:pt x="144324" y="-1320"/>
                  <a:pt x="151477" y="69"/>
                  <a:pt x="156270" y="4862"/>
                </a:cubicBezTo>
                <a:lnTo>
                  <a:pt x="195163" y="43755"/>
                </a:lnTo>
                <a:cubicBezTo>
                  <a:pt x="201692" y="50284"/>
                  <a:pt x="201692" y="60841"/>
                  <a:pt x="195163" y="67300"/>
                </a:cubicBezTo>
                <a:lnTo>
                  <a:pt x="156270" y="106194"/>
                </a:lnTo>
                <a:cubicBezTo>
                  <a:pt x="151477" y="110986"/>
                  <a:pt x="144324" y="112375"/>
                  <a:pt x="138073" y="109805"/>
                </a:cubicBezTo>
                <a:cubicBezTo>
                  <a:pt x="131822" y="107236"/>
                  <a:pt x="127794" y="101193"/>
                  <a:pt x="127794" y="94456"/>
                </a:cubicBezTo>
                <a:lnTo>
                  <a:pt x="127794" y="77788"/>
                </a:lnTo>
                <a:lnTo>
                  <a:pt x="111125" y="77788"/>
                </a:lnTo>
                <a:cubicBezTo>
                  <a:pt x="98832" y="77788"/>
                  <a:pt x="88900" y="87719"/>
                  <a:pt x="88900" y="100013"/>
                </a:cubicBezTo>
                <a:lnTo>
                  <a:pt x="88900" y="249128"/>
                </a:lnTo>
                <a:cubicBezTo>
                  <a:pt x="108555" y="257671"/>
                  <a:pt x="122238" y="277257"/>
                  <a:pt x="122238" y="300038"/>
                </a:cubicBezTo>
                <a:cubicBezTo>
                  <a:pt x="122238" y="330736"/>
                  <a:pt x="97373" y="355600"/>
                  <a:pt x="66675" y="355600"/>
                </a:cubicBezTo>
                <a:cubicBezTo>
                  <a:pt x="35977" y="355600"/>
                  <a:pt x="11112" y="330736"/>
                  <a:pt x="11112" y="300038"/>
                </a:cubicBezTo>
                <a:cubicBezTo>
                  <a:pt x="11112" y="277257"/>
                  <a:pt x="24795" y="257671"/>
                  <a:pt x="44450" y="249128"/>
                </a:cubicBezTo>
                <a:lnTo>
                  <a:pt x="44450" y="100013"/>
                </a:lnTo>
                <a:cubicBezTo>
                  <a:pt x="44450" y="63202"/>
                  <a:pt x="74315" y="33337"/>
                  <a:pt x="111125" y="33337"/>
                </a:cubicBezTo>
                <a:lnTo>
                  <a:pt x="127794" y="33337"/>
                </a:lnTo>
                <a:lnTo>
                  <a:pt x="127794" y="16669"/>
                </a:lnTo>
                <a:cubicBezTo>
                  <a:pt x="127794" y="9932"/>
                  <a:pt x="131822" y="3820"/>
                  <a:pt x="138073" y="1250"/>
                </a:cubicBezTo>
                <a:close/>
                <a:moveTo>
                  <a:pt x="272256" y="55563"/>
                </a:moveTo>
                <a:cubicBezTo>
                  <a:pt x="272256" y="64762"/>
                  <a:pt x="279725" y="72231"/>
                  <a:pt x="288925" y="72231"/>
                </a:cubicBezTo>
                <a:cubicBezTo>
                  <a:pt x="298125" y="72231"/>
                  <a:pt x="305594" y="64762"/>
                  <a:pt x="305594" y="55563"/>
                </a:cubicBezTo>
                <a:cubicBezTo>
                  <a:pt x="305594" y="46363"/>
                  <a:pt x="298125" y="38894"/>
                  <a:pt x="288925" y="38894"/>
                </a:cubicBezTo>
                <a:cubicBezTo>
                  <a:pt x="279725" y="38894"/>
                  <a:pt x="272256" y="46363"/>
                  <a:pt x="272256" y="55563"/>
                </a:cubicBezTo>
                <a:close/>
                <a:moveTo>
                  <a:pt x="266700" y="106472"/>
                </a:moveTo>
                <a:cubicBezTo>
                  <a:pt x="247045" y="97929"/>
                  <a:pt x="233363" y="78343"/>
                  <a:pt x="233363" y="55563"/>
                </a:cubicBezTo>
                <a:cubicBezTo>
                  <a:pt x="233363" y="24864"/>
                  <a:pt x="258227" y="0"/>
                  <a:pt x="288925" y="0"/>
                </a:cubicBezTo>
                <a:cubicBezTo>
                  <a:pt x="319623" y="0"/>
                  <a:pt x="344488" y="24864"/>
                  <a:pt x="344488" y="55563"/>
                </a:cubicBezTo>
                <a:cubicBezTo>
                  <a:pt x="344488" y="78343"/>
                  <a:pt x="330805" y="97929"/>
                  <a:pt x="311150" y="106472"/>
                </a:cubicBezTo>
                <a:lnTo>
                  <a:pt x="311150" y="255587"/>
                </a:lnTo>
                <a:cubicBezTo>
                  <a:pt x="311150" y="292398"/>
                  <a:pt x="281285" y="322263"/>
                  <a:pt x="244475" y="322263"/>
                </a:cubicBezTo>
                <a:lnTo>
                  <a:pt x="227806" y="322263"/>
                </a:lnTo>
                <a:lnTo>
                  <a:pt x="227806" y="338931"/>
                </a:lnTo>
                <a:cubicBezTo>
                  <a:pt x="227806" y="345668"/>
                  <a:pt x="223778" y="351780"/>
                  <a:pt x="217527" y="354350"/>
                </a:cubicBezTo>
                <a:cubicBezTo>
                  <a:pt x="211276" y="356920"/>
                  <a:pt x="204123" y="355531"/>
                  <a:pt x="199330" y="350738"/>
                </a:cubicBezTo>
                <a:lnTo>
                  <a:pt x="160437" y="311845"/>
                </a:lnTo>
                <a:cubicBezTo>
                  <a:pt x="153908" y="305316"/>
                  <a:pt x="153908" y="294759"/>
                  <a:pt x="160437" y="288300"/>
                </a:cubicBezTo>
                <a:lnTo>
                  <a:pt x="199330" y="249406"/>
                </a:lnTo>
                <a:cubicBezTo>
                  <a:pt x="204123" y="244614"/>
                  <a:pt x="211276" y="243225"/>
                  <a:pt x="217527" y="245795"/>
                </a:cubicBezTo>
                <a:cubicBezTo>
                  <a:pt x="223778" y="248364"/>
                  <a:pt x="227806" y="254407"/>
                  <a:pt x="227806" y="261144"/>
                </a:cubicBezTo>
                <a:lnTo>
                  <a:pt x="227806" y="277813"/>
                </a:lnTo>
                <a:lnTo>
                  <a:pt x="244475" y="277813"/>
                </a:lnTo>
                <a:cubicBezTo>
                  <a:pt x="256768" y="277813"/>
                  <a:pt x="266700" y="267881"/>
                  <a:pt x="266700" y="255587"/>
                </a:cubicBezTo>
                <a:lnTo>
                  <a:pt x="266700" y="106472"/>
                </a:lnTo>
                <a:close/>
                <a:moveTo>
                  <a:pt x="50006" y="300038"/>
                </a:moveTo>
                <a:cubicBezTo>
                  <a:pt x="50006" y="309237"/>
                  <a:pt x="57475" y="316706"/>
                  <a:pt x="66675" y="316706"/>
                </a:cubicBezTo>
                <a:cubicBezTo>
                  <a:pt x="75875" y="316706"/>
                  <a:pt x="83344" y="309237"/>
                  <a:pt x="83344" y="300038"/>
                </a:cubicBezTo>
                <a:cubicBezTo>
                  <a:pt x="83344" y="290838"/>
                  <a:pt x="75875" y="283369"/>
                  <a:pt x="66675" y="283369"/>
                </a:cubicBezTo>
                <a:cubicBezTo>
                  <a:pt x="57475" y="283369"/>
                  <a:pt x="50006" y="290838"/>
                  <a:pt x="50006" y="300038"/>
                </a:cubicBezTo>
                <a:close/>
              </a:path>
            </a:pathLst>
          </a:custGeom>
          <a:solidFill>
            <a:srgbClr val="003A70"/>
          </a:solidFill>
          <a:ln/>
        </p:spPr>
      </p:sp>
      <p:sp>
        <p:nvSpPr>
          <p:cNvPr id="29" name="Text 27"/>
          <p:cNvSpPr/>
          <p:nvPr/>
        </p:nvSpPr>
        <p:spPr>
          <a:xfrm>
            <a:off x="10896600" y="4584700"/>
            <a:ext cx="4368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Outros Classificadores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e SVM apos PCA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62000" y="5994400"/>
            <a:ext cx="14732000" cy="1092200"/>
          </a:xfrm>
          <a:prstGeom prst="roundRect">
            <a:avLst>
              <a:gd name="adj" fmla="val 6000"/>
            </a:avLst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000" y="5994400"/>
            <a:ext cx="63500" cy="10922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2" name="Text 30"/>
          <p:cNvSpPr/>
          <p:nvPr/>
        </p:nvSpPr>
        <p:spPr>
          <a:xfrm>
            <a:off x="1041400" y="6096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Essas etapas podem fornecer uma compreensao ainda mais detalhada do comportamento dos consumidores e melhorar a qualidade dos agrupamentos encontrados, contribuindo para um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robusto de segmentacao de clientes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 / 20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gradFill flip="none" rotWithShape="1">
          <a:gsLst>
            <a:gs pos="0">
              <a:srgbClr val="002850"/>
            </a:gs>
            <a:gs pos="100000">
              <a:srgbClr val="004A8C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0" y="2540000"/>
            <a:ext cx="1117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858000" y="3810000"/>
            <a:ext cx="2540000" cy="0"/>
          </a:xfrm>
          <a:prstGeom prst="straightConnector1">
            <a:avLst/>
          </a:prstGeom>
          <a:noFill/>
          <a:ln w="38100">
            <a:solidFill>
              <a:srgbClr val="C4911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2540000" y="4064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Aprendizado Nao Supervisionado - Online Retail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40000" y="5334000"/>
            <a:ext cx="1117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Abimael Gomes Mesquita Filho</a:t>
            </a: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(583351) </a:t>
            </a: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</a:t>
            </a: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Kaue Cruz Gomes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Inteligencia Artificial | Universidade Federal do Ceara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1580</Words>
  <Application>Microsoft Office PowerPoint</Application>
  <PresentationFormat>Personalizar</PresentationFormat>
  <Paragraphs>386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Quattrocento Sans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Nao Supervisionado - Online Retail</dc:title>
  <dc:subject>Aprendizado Nao Supervisionado - Online Retail</dc:subject>
  <dc:creator>Kimi</dc:creator>
  <cp:lastModifiedBy>ABIMAEL</cp:lastModifiedBy>
  <cp:revision>7</cp:revision>
  <dcterms:created xsi:type="dcterms:W3CDTF">2026-06-20T19:19:44Z</dcterms:created>
  <dcterms:modified xsi:type="dcterms:W3CDTF">2026-06-22T17:54:04Z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{"Label":"Aprendizado Nao Supervisionado - Online Retail","ContentProducer":"001191110108MACG2KBH8F10000","ProduceID":"19ee6241-bb42-8448-8000-0000cb5f0d4e","ReservedCode1":"","ContentPropagator":"001191110108MACG2KBH8F20000","PropagateID":"19ee620d-2ff2-</vt:lpwstr>
  </property>
</Properties>
</file>